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goal is an experiment isolating the effect of architecture, not a commercial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 ensures measured differences come from orchestration, not data or model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Digital Concierge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LLM Framework for Personalized, Constraint-Aware, and Evidence-Grounded Travel Planning in Saudi Arabia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41248" y="397764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3977640"/>
            <a:ext cx="146304" cy="146304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3977640"/>
            <a:ext cx="146304" cy="146304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44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hybrid knowledge base complete · experiment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&amp; Hypotheses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3EEE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556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multi-agent LLM architecture improve personalized, constraint-aware, and evidence-grounded travel planning in Saudi Arabia compared with an equivalent single-agent LLM — holding the model, knowledge base, and evaluation constant?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7432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satisfies more explicit constraints (budget, dates, group, audience).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384048" cy="38404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5844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unsupported claims — lower hallucination, higher evidence grounding (via the Verifier).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384048" cy="38404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42569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raters judge multi-agent itineraries better personalized / higher quality.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312664"/>
            <a:ext cx="384048" cy="38404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52669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carry a measurable cost — more tokens, latency, and API calls (the trade-off).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Treatment — what is controlled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 = agent architecture. Everything else is held identical.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3EE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— Single Agent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does everything: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retrieve → plan → answer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single prompt. No verification loop.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0E6E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— Multi-Agent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→ Retrieval → Planning → Verifier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97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 the plan and loops back to Planning until every constraint is satisfied.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 constant across both arms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492861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15568" y="4754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LLM &amp; generation settings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475488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07992" y="492861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18888" y="4754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hybrid knowledge base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475488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11312" y="492861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22208" y="4754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scenarios &amp; prompts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" y="561441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15568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 schema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3400" y="544068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07992" y="561441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18888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criteria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544068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1312" y="561441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22208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raters &amp; instructions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defined operationally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577840" cy="4937760"/>
          </a:xfrm>
          <a:prstGeom prst="roundRect">
            <a:avLst>
              <a:gd name="adj" fmla="val 1296"/>
            </a:avLst>
          </a:prstGeom>
          <a:solidFill>
            <a:srgbClr val="E9F2F0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36192"/>
            <a:ext cx="256032" cy="256032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07008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— deterministic (no LLM judge)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4884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 = met ÷ requested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Adherence = Σcost ≤ budget (+ overspend %)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Validity = events within trip window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Feasibility = consecutive stops within distance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Capacity/Audience = max_persons ≥ group; flags match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Grounding = items → canonical_id + source_url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= items NOT supported by the KB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2743200" cy="4937760"/>
          </a:xfrm>
          <a:prstGeom prst="roundRect">
            <a:avLst>
              <a:gd name="adj" fmla="val 2333"/>
            </a:avLst>
          </a:prstGeom>
          <a:solidFill>
            <a:srgbClr val="FBF4DD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1536192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67728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— human eval (1–5)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148840"/>
            <a:ext cx="2194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quality &amp; coherence</a:t>
            </a:r>
            <a:endParaRPr lang="en-US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usefulness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0" y="1325880"/>
            <a:ext cx="2743200" cy="4937760"/>
          </a:xfrm>
          <a:prstGeom prst="roundRect">
            <a:avLst>
              <a:gd name="adj" fmla="val 2333"/>
            </a:avLst>
          </a:prstGeom>
          <a:solidFill>
            <a:srgbClr val="F3EEE4"/>
          </a:solidFill>
          <a:ln/>
        </p:spPr>
      </p:sp>
      <p:sp>
        <p:nvSpPr>
          <p:cNvPr id="12" name="Shape 10"/>
          <p:cNvSpPr/>
          <p:nvPr/>
        </p:nvSpPr>
        <p:spPr>
          <a:xfrm>
            <a:off x="9555480" y="1536192"/>
            <a:ext cx="256032" cy="256032"/>
          </a:xfrm>
          <a:prstGeom prst="ellipse">
            <a:avLst/>
          </a:prstGeom>
          <a:solidFill>
            <a:srgbClr val="0B3B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93808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— system cost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2148840"/>
            <a:ext cx="2194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(s)</a:t>
            </a:r>
            <a:endParaRPr lang="en-US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(prompt + completion)</a:t>
            </a:r>
            <a:endParaRPr lang="en-US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LLM calls</a:t>
            </a:r>
            <a:endParaRPr lang="en-US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 / itinerary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run N times per arm (≈70 × 3 × 2 ≈ 420 itineraries) → paired tests + effect sizes.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curated, bilingual (Arabic + English) sources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Source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Role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Rows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Reviews — Zenodo (CC0)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reviews + aspect sentiment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Riyadh Places — 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 / restaurants, ratings, coordinates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Tourism 2015–24 — 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Demand, spending, overnight stays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DataSaudi Indicators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stats (purpose, NPS, satisfaction)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~1,915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Enjoy.sa Events API —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Events: dates, city, audience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Booking.com Hotels — Kaggle (2020)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Hotels: price, ratings, coordinates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 — 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Venues, ratings, categories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3886200" cy="4754880"/>
          </a:xfrm>
          <a:prstGeom prst="roundRect">
            <a:avLst>
              <a:gd name="adj" fmla="val 1647"/>
            </a:avLst>
          </a:prstGeom>
          <a:solidFill>
            <a:srgbClr val="0B3B3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Exclusions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194560"/>
            <a:ext cx="3337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source dropped → Booking.com added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Coordinates: strongest in Riyadh; thinner elsewhere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Enjoy.sa is live; others are snapshots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prices are 2020 → shown as historical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DataSaudi curated to ~5 tables (dropped duplicates)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Non-Saudi &amp; corrupted rows excluded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transport / booking transactions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data — real records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rows from the cleaned datasets — the structured layer the Verifier filters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37744" cy="23774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72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Riyadh Places — POIs &amp; restaurants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1737360"/>
                <a:gridCol w="228600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Category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Rating (n)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Coordinates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City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Chowking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Noodles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(305)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24.646, 46.717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Riyadh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islands delights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 | Seafood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(239)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24.646, 46.717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Riyadh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Eben Ezar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 | Japanese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24.647, 46.718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Riyadh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Shawarma Alaz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Food | Shawarma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24.645, 46.718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Riyadh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160520"/>
            <a:ext cx="237744" cy="23774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41056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Booking.com Hotels — price &amp; guest ratings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98848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94560"/>
                <a:gridCol w="1371600"/>
                <a:gridCol w="822960"/>
                <a:gridCol w="11887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Hotel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City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SAR/night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Guest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Free cancel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Points by Sheraton Al Naseem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Makkah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 Crown Furnished Apartments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Khamis Mushait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فندق راية الشلال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Abū Qa‘Ar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2020 snapshots (used as a static benchmark). Blank guest rating = unrated, kept as null — never coerced to 0.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evidence — reviews, events &amp; venues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 throughout — the semantic layer embeds this text for grounding.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3EE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— aspect sentiment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482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منتزه الخلب · Al Bahah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31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منتزه وحديقة البرج مكان جميل … المطعم اكله لذيذ ونظيف … وبعد الساعة تنحسب رسوم ٢٠ ريال … وجدناها متسخة مع الامطار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0E6E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5661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 +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3566160"/>
            <a:ext cx="1709928" cy="384048"/>
          </a:xfrm>
          <a:prstGeom prst="roundRect">
            <a:avLst>
              <a:gd name="adj" fmla="val 47619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23160" y="35661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  −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3566160"/>
            <a:ext cx="1133856" cy="384048"/>
          </a:xfrm>
          <a:prstGeom prst="roundRect">
            <a:avLst>
              <a:gd name="adj" fmla="val 47619"/>
            </a:avLst>
          </a:prstGeom>
          <a:solidFill>
            <a:srgbClr val="0E6E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15968" y="356616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+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416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aspects scored {−1, 0, +1}; null when not mentioned — a review can be positive overall yet flag cleanliness.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1664208"/>
            <a:ext cx="219456" cy="21945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56832" y="16093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Enjoy.sa Events (live API)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11680"/>
          <a:ext cx="51663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914400"/>
                <a:gridCol w="118872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Event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City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Audience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WWE سماك داون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2024-05-24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Comeback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2026-07-25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Lenny Jay's This Is Michae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2026-08-21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355080" y="3977640"/>
            <a:ext cx="219456" cy="21945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56832" y="39227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 venues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325112"/>
          <a:ext cx="5166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17320"/>
                <a:gridCol w="1051560"/>
                <a:gridCol w="594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Venue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Genre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Rating (n)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City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Concert hall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(1,100)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Atheeb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vox cinemas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theater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(3,500)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Riyadh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المسرح الروماني | Roman Theater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(151)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Uqayr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carry per-audience flags (male / female / family) — the source of the temporal &amp; audience constraint checks.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resolution — a real merge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rows, identical coordinates → one canonical entity. Names alone never merge — coordinates corroborate.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2 source records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F3EE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places_04934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ALkhozama cafe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 </a:t>
            </a:r>
            <a:pPr indent="0" marL="0">
              <a:buNone/>
            </a:pPr>
            <a:r>
              <a:rPr lang="en-US" sz="110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24.888313, 46.618195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</a:t>
            </a:r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(unrated)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F3EE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places_04935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ALkhozama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 </a:t>
            </a:r>
            <a:pPr indent="0" marL="0">
              <a:buNone/>
            </a:pPr>
            <a:r>
              <a:rPr lang="en-US" sz="110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24.888313, 46.618195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</a:t>
            </a:r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/ 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4688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6172200" y="196596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0E6E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1 canonical entity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RYD_000154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ALkhozama cafe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region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 · Riyadh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24.888313, 46.618195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(places_04934 | places_04935)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IDs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on every member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0B3B3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rule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6509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only if coordinates corroborate: distance ≤ 20 m with name similarity ≥ 0.6, or ≤ 50 m with ≥ 0.85. No-coordinate name matches become review candidates, not automatic merges. Result: 10,382 → 10,027 entities (457 merges).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 — the data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raw → clean → standardize → resolve → hybrid KB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1251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7510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&amp; Audit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notebooks + 11-point quality audit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1251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7510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Contract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schema, units, provenance (data_dictionary.md)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1251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20954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raw→clean→validate; rating 0 = unrated, not 0/5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1251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20954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schema, rating_norm, bilingual documents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1251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44398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Resolution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IDs (RYD_000123) via name+city+coords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11480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1251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444398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KB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exact filters + multilingual vector store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806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21,782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55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entity records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5806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10,027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4343400" y="6355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entities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5806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6355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match a sample query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— the experiment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layer   </a:t>
            </a:r>
            <a:pPr indent="0" marL="0"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structured + semantic behind one interface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94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Single-agent baseline   </a:t>
            </a:r>
            <a:pPr indent="0" marL="0"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arm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17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   </a:t>
            </a:r>
            <a:pPr indent="0" marL="0"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Retrieval / Planning / Verifier + revise loop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40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test set   </a:t>
            </a:r>
            <a:pPr indent="0" marL="0"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scenarios: simple, constraint-heavy, temporal, spatial, preference, conflicting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663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runs   </a:t>
            </a:r>
            <a:pPr indent="0" marL="0"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~420 itineraries across both arms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statistics   </a:t>
            </a:r>
            <a:pPr indent="0" marL="0"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+ human eval → paired comparison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6263640"/>
            <a:ext cx="1088136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hard constraints checked deterministically (structured layer); subjective quality via semantic retrieval + human eval.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2026-09-14T12:58:05Z</dcterms:created>
  <dcterms:modified xsi:type="dcterms:W3CDTF">2026-09-14T12:58:05Z</dcterms:modified>
</cp:coreProperties>
</file>