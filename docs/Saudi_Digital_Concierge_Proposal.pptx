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Framing: the goal is an experiment isolating the effect of architecture, not a commercial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Isolation ensures measured differences come from orchestration, not data or model capability.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874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Saudi Digital Concierge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7889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i="1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Multi-Agent LLM Framework for Personalized, Constraint-Aware, and Evidence-Grounded Travel Planning in Saudi Arabia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841248" y="3977640"/>
            <a:ext cx="146304" cy="146304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1225296" y="3977640"/>
            <a:ext cx="146304" cy="146304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6" name="Shape 4"/>
          <p:cNvSpPr/>
          <p:nvPr/>
        </p:nvSpPr>
        <p:spPr>
          <a:xfrm>
            <a:off x="1609344" y="3977640"/>
            <a:ext cx="146304" cy="146304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5806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Proposal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61447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8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 &amp; hybrid knowledge base complete · experiment design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Question &amp; Hypotheses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F3EEE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41732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Question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75564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i="1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multi-agent LLM architecture improve personalized, constraint-aware, and evidence-grounded travel planning in Saudi Arabia compared with an equivalent single-agent LLM — holding the model, knowledge base, and evaluation constant?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2788920"/>
            <a:ext cx="384048" cy="384048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70432" y="27432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E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satisfies more explicit constraints (budget, dates, group, audience).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630168"/>
            <a:ext cx="384048" cy="384048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70432" y="358444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E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unsupported claims — lower hallucination, higher evidence grounding (via the Verifier).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471416"/>
            <a:ext cx="384048" cy="384048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471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170432" y="442569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E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raters judge multi-agent itineraries better personalized / higher quality.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312664"/>
            <a:ext cx="384048" cy="384048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5312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70432" y="526694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E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Gains carry a measurable cost — more tokens, latency, and API calls (the trade-off).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vs. Treatment — what is controlled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variable = agent architecture. Everything else is held identical.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03520" cy="2377440"/>
          </a:xfrm>
          <a:prstGeom prst="roundRect">
            <a:avLst>
              <a:gd name="adj" fmla="val 3077"/>
            </a:avLst>
          </a:prstGeom>
          <a:solidFill>
            <a:srgbClr val="F3EEE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— Single Agent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860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LLM does everything: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→ retrieve → plan → answer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2461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single prompt. No verification loop.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0" y="1645920"/>
            <a:ext cx="5257800" cy="2377440"/>
          </a:xfrm>
          <a:prstGeom prst="roundRect">
            <a:avLst>
              <a:gd name="adj" fmla="val 3077"/>
            </a:avLst>
          </a:prstGeom>
          <a:solidFill>
            <a:srgbClr val="0E6E6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3796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Treatment — Multi-Agent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286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→ Retrieval → Planning → Verifier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26974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checks the plan and loops back to Planning until every constraint is satisfied.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297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Held constant across both arms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754880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F3EEE4"/>
          </a:solidFill>
          <a:ln/>
        </p:spPr>
      </p:sp>
      <p:sp>
        <p:nvSpPr>
          <p:cNvPr id="14" name="Shape 12"/>
          <p:cNvSpPr/>
          <p:nvPr/>
        </p:nvSpPr>
        <p:spPr>
          <a:xfrm>
            <a:off x="804672" y="4928616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15568" y="47548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LLM &amp; generation settings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43400" y="4754880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F3EEE4"/>
          </a:solidFill>
          <a:ln/>
        </p:spPr>
      </p:sp>
      <p:sp>
        <p:nvSpPr>
          <p:cNvPr id="17" name="Shape 15"/>
          <p:cNvSpPr/>
          <p:nvPr/>
        </p:nvSpPr>
        <p:spPr>
          <a:xfrm>
            <a:off x="4507992" y="4928616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18888" y="47548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hybrid knowledge base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046720" y="4754880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F3EEE4"/>
          </a:solidFill>
          <a:ln/>
        </p:spPr>
      </p:sp>
      <p:sp>
        <p:nvSpPr>
          <p:cNvPr id="20" name="Shape 18"/>
          <p:cNvSpPr/>
          <p:nvPr/>
        </p:nvSpPr>
        <p:spPr>
          <a:xfrm>
            <a:off x="8211312" y="4928616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22208" y="47548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test scenarios &amp; prompts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5440680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F3EEE4"/>
          </a:solidFill>
          <a:ln/>
        </p:spPr>
      </p:sp>
      <p:sp>
        <p:nvSpPr>
          <p:cNvPr id="23" name="Shape 21"/>
          <p:cNvSpPr/>
          <p:nvPr/>
        </p:nvSpPr>
        <p:spPr>
          <a:xfrm>
            <a:off x="804672" y="5614416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115568" y="54406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output schema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343400" y="5440680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F3EEE4"/>
          </a:solidFill>
          <a:ln/>
        </p:spPr>
      </p:sp>
      <p:sp>
        <p:nvSpPr>
          <p:cNvPr id="26" name="Shape 24"/>
          <p:cNvSpPr/>
          <p:nvPr/>
        </p:nvSpPr>
        <p:spPr>
          <a:xfrm>
            <a:off x="4507992" y="5614416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18888" y="54406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evaluation criteria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046720" y="5440680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F3EEE4"/>
          </a:solidFill>
          <a:ln/>
        </p:spPr>
      </p:sp>
      <p:sp>
        <p:nvSpPr>
          <p:cNvPr id="29" name="Shape 27"/>
          <p:cNvSpPr/>
          <p:nvPr/>
        </p:nvSpPr>
        <p:spPr>
          <a:xfrm>
            <a:off x="8211312" y="5614416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522208" y="54406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raters &amp; instructions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Metrics — defined operationally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577840" cy="4937760"/>
          </a:xfrm>
          <a:prstGeom prst="roundRect">
            <a:avLst>
              <a:gd name="adj" fmla="val 1296"/>
            </a:avLst>
          </a:prstGeom>
          <a:solidFill>
            <a:srgbClr val="E9F2F0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536192"/>
            <a:ext cx="256032" cy="256032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07008" y="14630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 — deterministic (no LLM judge)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148840"/>
            <a:ext cx="50292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Satisfaction = met ÷ requested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Adherence = Σcost ≤ budget (+ overspend %)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Validity = events within trip window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Feasibility = consecutive stops within distance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Capacity/Audience = max_persons ≥ group; flags match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Grounding = items → canonical_id + source_url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Rate = items NOT supported by the KB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0" y="1325880"/>
            <a:ext cx="2743200" cy="4937760"/>
          </a:xfrm>
          <a:prstGeom prst="roundRect">
            <a:avLst>
              <a:gd name="adj" fmla="val 2333"/>
            </a:avLst>
          </a:prstGeom>
          <a:solidFill>
            <a:srgbClr val="FBF4DD"/>
          </a:solidFill>
          <a:ln/>
        </p:spPr>
      </p:sp>
      <p:sp>
        <p:nvSpPr>
          <p:cNvPr id="8" name="Shape 6"/>
          <p:cNvSpPr/>
          <p:nvPr/>
        </p:nvSpPr>
        <p:spPr>
          <a:xfrm>
            <a:off x="6629400" y="1536192"/>
            <a:ext cx="256032" cy="25603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967728" y="1463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Subjective — human eval (1–5)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720840" y="2148840"/>
            <a:ext cx="21945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Personalization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Itinerary quality &amp; coherence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usefulness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326880" y="1325880"/>
            <a:ext cx="2743200" cy="4937760"/>
          </a:xfrm>
          <a:prstGeom prst="roundRect">
            <a:avLst>
              <a:gd name="adj" fmla="val 2333"/>
            </a:avLst>
          </a:prstGeom>
          <a:solidFill>
            <a:srgbClr val="F3EEE4"/>
          </a:solidFill>
          <a:ln/>
        </p:spPr>
      </p:sp>
      <p:sp>
        <p:nvSpPr>
          <p:cNvPr id="12" name="Shape 10"/>
          <p:cNvSpPr/>
          <p:nvPr/>
        </p:nvSpPr>
        <p:spPr>
          <a:xfrm>
            <a:off x="9555480" y="1536192"/>
            <a:ext cx="256032" cy="256032"/>
          </a:xfrm>
          <a:prstGeom prst="ellipse">
            <a:avLst/>
          </a:prstGeom>
          <a:solidFill>
            <a:srgbClr val="0B3B3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93808" y="1463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Efficiency — system cost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9646920" y="2148840"/>
            <a:ext cx="21945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(s)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tokens (prompt + completion)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LLM calls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 cost / itinerary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63550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scenario run N times per arm (≈70 × 3 × 2 ≈ 420 itineraries) → paired tests + effect sizes.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Sources &amp; Scope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curated, bilingual (Arabic + English) sources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67665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74320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Source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Role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Rows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Tourism Reviews — Zenodo (CC0)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Arabic reviews + aspect sentiment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Riyadh Places — Kaggle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 / restaurants, ratings, coordinates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8,836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Saudi Tourism 2015–24 — Kaggle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Demand, spending, overnight stays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DataSaudi Indicators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Official stats (purpose, NPS, satisfaction)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~1,915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Enjoy.sa Events API — LIVE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Events: dates, city, audience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Booking.com Hotels — Kaggle (2020)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Hotels: price, ratings, coordinates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Entertainment — Kaggle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Venues, ratings, categories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635240" y="1554480"/>
            <a:ext cx="3886200" cy="4754880"/>
          </a:xfrm>
          <a:prstGeom prst="roundRect">
            <a:avLst>
              <a:gd name="adj" fmla="val 1647"/>
            </a:avLst>
          </a:prstGeom>
          <a:solidFill>
            <a:srgbClr val="0B3B36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863840" y="17190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&amp; Exclusions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2194560"/>
            <a:ext cx="33375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 source dropped → Booking.com added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Coordinates: strongest in Riyadh; thinner elsewhere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Enjoy.sa is live; others are snapshots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prices are 2020 → shown as historical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DataSaudi curated to ~5 tables (dropped duplicates)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Non-Saudi &amp; corrupted rows excluded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transport / booking transactions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the data — real records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rows from the cleaned datasets — the structured layer the Verifier filters on.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237744" cy="237744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5727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Riyadh Places — POIs &amp; restaurants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8813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743200"/>
                <a:gridCol w="1737360"/>
                <a:gridCol w="2286000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Name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Category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Rating (n)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Coordinates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City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Chowking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Noodles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 (305)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24.646, 46.717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Riyadh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islands delights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Asian | Seafood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 (239)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24.646, 46.717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Riyadh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Eben Ezar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Asian | Japanese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 (5)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24.647, 46.718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Riyadh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Shawarma Alaz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Food | Shawarma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 (3)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24.645, 46.718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Riyadh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160520"/>
            <a:ext cx="237744" cy="237744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60120" y="410565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Booking.com Hotels — price &amp; guest ratings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498848"/>
          <a:ext cx="108813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194560"/>
                <a:gridCol w="1371600"/>
                <a:gridCol w="822960"/>
                <a:gridCol w="1188720"/>
                <a:gridCol w="1371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Hotel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City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SAR/night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★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Guest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Free cancel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Points by Sheraton Al Naseem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Makkah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6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Copper Crown Furnished Apartments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Khamis Mushait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6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فندق راية الشلال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Abū Qa‘Ar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6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الريم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 Ula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6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40080" y="63550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are 2020 snapshots (used as a static benchmark). Blank guest rating = unrated, kept as null — never coerced to 0.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evidence — reviews, events &amp; venues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 + English throughout — the semantic layer embeds this text for grounding.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2880360"/>
          </a:xfrm>
          <a:prstGeom prst="roundRect">
            <a:avLst>
              <a:gd name="adj" fmla="val 2540"/>
            </a:avLst>
          </a:prstGeom>
          <a:solidFill>
            <a:srgbClr val="F3EEE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7373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— aspect sentiment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04825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منتزه الخلب · Al Bahah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33172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منتزه وحديقة البرج مكان جميل … المطعم اكله لذيذ ونظيف … وبعد الساعة تنحسب رسوم ٢٠ ريال … وجدناها متسخة مع الامطار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14400" y="3566160"/>
            <a:ext cx="1325880" cy="384048"/>
          </a:xfrm>
          <a:prstGeom prst="roundRect">
            <a:avLst>
              <a:gd name="adj" fmla="val 47619"/>
            </a:avLst>
          </a:prstGeom>
          <a:solidFill>
            <a:srgbClr val="0E6E6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356616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 +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423160" y="3566160"/>
            <a:ext cx="1709928" cy="384048"/>
          </a:xfrm>
          <a:prstGeom prst="roundRect">
            <a:avLst>
              <a:gd name="adj" fmla="val 47619"/>
            </a:avLst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423160" y="3566160"/>
            <a:ext cx="170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Cleanliness  −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15968" y="3566160"/>
            <a:ext cx="1133856" cy="384048"/>
          </a:xfrm>
          <a:prstGeom prst="roundRect">
            <a:avLst>
              <a:gd name="adj" fmla="val 47619"/>
            </a:avLst>
          </a:prstGeom>
          <a:solidFill>
            <a:srgbClr val="0E6E6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15968" y="3566160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 +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04164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aspects scored {−1, 0, +1}; null when not mentioned — a review can be positive overall yet flag cleanliness.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355080" y="1664208"/>
            <a:ext cx="219456" cy="21945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56832" y="160934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Enjoy.sa Events (live API)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011680"/>
          <a:ext cx="51663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914400"/>
                <a:gridCol w="1188720"/>
                <a:gridCol w="7315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Event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City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Date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Audience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WWE سماك داون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Jeddah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2024-05-24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Comeback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Jeddah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2026-07-25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Lenny Jay's This Is Michae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Jeddah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2026-08-21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Adults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6355080" y="3977640"/>
            <a:ext cx="219456" cy="21945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56832" y="392277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Entertainment venues</a:t>
            </a:r>
            <a:endParaRPr lang="en-US" sz="14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4325112"/>
          <a:ext cx="5166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417320"/>
                <a:gridCol w="1051560"/>
                <a:gridCol w="5943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Venue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Genre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Rating (n)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City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Maraya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Concert hall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 (1,100)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 Atheeb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vox cinemas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Movie theater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 (3,500)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Riyadh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المسرح الروماني | Roman Theater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Theater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 (151)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 Uqayr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640080" y="51206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carry per-audience flags (male / female / family) — the source of the temporal &amp; audience constraint checks.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Entity resolution — a real merge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source rows, identical coordinates → one canonical entity. Names alone never merge — coordinates corroborate.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B7B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— 2 source records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4114800" cy="1371600"/>
          </a:xfrm>
          <a:prstGeom prst="roundRect">
            <a:avLst>
              <a:gd name="adj" fmla="val 4667"/>
            </a:avLst>
          </a:prstGeom>
          <a:solidFill>
            <a:srgbClr val="F3EEE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places_04934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377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ALkhozama cafe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7157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lat/lon  </a:t>
            </a:r>
            <a:pPr indent="0" marL="0">
              <a:buNone/>
            </a:pPr>
            <a:r>
              <a:rPr lang="en-US" sz="1100" b="1" dirty="0">
                <a:solidFill>
                  <a:srgbClr val="0E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24.888313, 46.618195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990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 </a:t>
            </a:r>
            <a:pPr indent="0" marL="0">
              <a:buNone/>
            </a:pPr>
            <a:r>
              <a:rPr lang="en-US" sz="1100" b="1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(unrated)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474720"/>
            <a:ext cx="4114800" cy="1371600"/>
          </a:xfrm>
          <a:prstGeom prst="roundRect">
            <a:avLst>
              <a:gd name="adj" fmla="val 4667"/>
            </a:avLst>
          </a:prstGeom>
          <a:solidFill>
            <a:srgbClr val="F3EEE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3611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places_04935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886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ALkhozama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4224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lat/lon  </a:t>
            </a:r>
            <a:pPr indent="0" marL="0">
              <a:buNone/>
            </a:pPr>
            <a:r>
              <a:rPr lang="en-US" sz="1100" b="1" dirty="0">
                <a:solidFill>
                  <a:srgbClr val="0E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24.888313, 46.618195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44988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 </a:t>
            </a:r>
            <a:pPr indent="0" marL="0">
              <a:buNone/>
            </a:pPr>
            <a:r>
              <a:rPr lang="en-US" sz="1100" b="1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 / 5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468880"/>
            <a:ext cx="1097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5400" dirty="0"/>
          </a:p>
        </p:txBody>
      </p:sp>
      <p:sp>
        <p:nvSpPr>
          <p:cNvPr id="16" name="Shape 14"/>
          <p:cNvSpPr/>
          <p:nvPr/>
        </p:nvSpPr>
        <p:spPr>
          <a:xfrm>
            <a:off x="6172200" y="1965960"/>
            <a:ext cx="5349240" cy="2880360"/>
          </a:xfrm>
          <a:prstGeom prst="roundRect">
            <a:avLst>
              <a:gd name="adj" fmla="val 2540"/>
            </a:avLst>
          </a:prstGeom>
          <a:solidFill>
            <a:srgbClr val="0E6E6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72200" y="1600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— 1 canonical entity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21488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RYD_000154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2560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ALkhozama cafe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3063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E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/ region 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Riyadh · Riyadh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34747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E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24.888313, 46.618195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38862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E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(places_04934 | places_04935)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446520" y="42976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E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IDs 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on every member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5212080"/>
            <a:ext cx="10881360" cy="1051560"/>
          </a:xfrm>
          <a:prstGeom prst="roundRect">
            <a:avLst>
              <a:gd name="adj" fmla="val 6087"/>
            </a:avLst>
          </a:prstGeom>
          <a:solidFill>
            <a:srgbClr val="0B3B3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400" y="5349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Merge rule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14400" y="565099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only if coordinates corroborate: distance ≤ 20 m with name similarity ≥ 0.6, or ≤ 50 m with ≥ 0.85. No-coordinate name matches become review candidates, not automatic merges. Result: 10,382 → 10,027 entities (457 merges).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file trail — one café through the pipeline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8755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writes its own file; standardization splits into two shapes — one per half of the hybrid KB.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0" y="1417320"/>
            <a:ext cx="3566160" cy="749808"/>
          </a:xfrm>
          <a:prstGeom prst="roundRect">
            <a:avLst>
              <a:gd name="adj" fmla="val 7317"/>
            </a:avLst>
          </a:prstGeom>
          <a:solidFill>
            <a:srgbClr val="F3EEE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907792" y="1527048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raw/places.csv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2907792" y="1819656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messy rows · rating=0 · "Riyadh, Saudi Arabia"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46520" y="1554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251960" y="21945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743200" y="2487168"/>
            <a:ext cx="3566160" cy="749808"/>
          </a:xfrm>
          <a:prstGeom prst="roundRect">
            <a:avLst>
              <a:gd name="adj" fmla="val 7317"/>
            </a:avLst>
          </a:prstGeom>
          <a:solidFill>
            <a:srgbClr val="F3EEE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907792" y="2596896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processed/places_clean.csv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907792" y="28895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0→null · city→Riyadh/Riyadh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6243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326440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356616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standardize → splits into two shapes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913632"/>
            <a:ext cx="3703320" cy="749808"/>
          </a:xfrm>
          <a:prstGeom prst="roundRect">
            <a:avLst>
              <a:gd name="adj" fmla="val 7317"/>
            </a:avLst>
          </a:prstGeom>
          <a:solidFill>
            <a:srgbClr val="E9F2F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4023360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entities_core.csv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04672" y="4315968"/>
            <a:ext cx="3410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to FILTER · rating_norm 0.8 · city · price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17720" y="3913632"/>
            <a:ext cx="3703320" cy="749808"/>
          </a:xfrm>
          <a:prstGeom prst="roundRect">
            <a:avLst>
              <a:gd name="adj" fmla="val 7317"/>
            </a:avLst>
          </a:prstGeom>
          <a:solidFill>
            <a:srgbClr val="FBF4D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82312" y="4023360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kb_documents.csv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782312" y="4315968"/>
            <a:ext cx="3410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to embed + embed flag · language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732520" y="1417320"/>
            <a:ext cx="2880360" cy="2148840"/>
          </a:xfrm>
          <a:prstGeom prst="roundRect">
            <a:avLst>
              <a:gd name="adj" fmla="val 3404"/>
            </a:avLst>
          </a:prstGeom>
          <a:solidFill>
            <a:srgbClr val="0B3B3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961120" y="15727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Structured layer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961120" y="18836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knowledge_base.sqlite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961120" y="2212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filters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FE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= Riyadh AND rating_norm ≥ 0.8 AND price ≤ 50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732520" y="3703320"/>
            <a:ext cx="2880360" cy="2560320"/>
          </a:xfrm>
          <a:prstGeom prst="roundRect">
            <a:avLst>
              <a:gd name="adj" fmla="val 2857"/>
            </a:avLst>
          </a:prstGeom>
          <a:solidFill>
            <a:srgbClr val="0E6E6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961120" y="38587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3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Semantic layer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961120" y="41696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vector_store/  (.npy + meta)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961120" y="4498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 search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“cozy, family-friendly vibe” → 768-dim vector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0" y="21945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44805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8732520" y="5989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KB (regenerable, git-ignored)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0080" y="5029200"/>
            <a:ext cx="7680960" cy="1234440"/>
          </a:xfrm>
          <a:prstGeom prst="roundRect">
            <a:avLst>
              <a:gd name="adj" fmla="val 5185"/>
            </a:avLst>
          </a:prstGeom>
          <a:solidFill>
            <a:srgbClr val="F3EEE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68680" y="5138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Entity resolution (between the split and the KB) writes 4 relationship files: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68680" y="54406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canonical_entities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(master list)   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entity_crosswalk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(source→canonical join hub)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candidate_links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(near-matches, not merged)   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review_place_links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(review→place)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built — the data pipeline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FB8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Reproducible, raw → clean → standardize → resolve → hybrid KB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1097280"/>
          </a:xfrm>
          <a:prstGeom prst="roundRect">
            <a:avLst>
              <a:gd name="adj" fmla="val 5833"/>
            </a:avLst>
          </a:prstGeom>
          <a:solidFill>
            <a:srgbClr val="12514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75104"/>
            <a:ext cx="438912" cy="43891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9751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8288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Exploration &amp; Audit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194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Per-source notebooks + 11-point quality audit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645920"/>
            <a:ext cx="5349240" cy="1097280"/>
          </a:xfrm>
          <a:prstGeom prst="roundRect">
            <a:avLst>
              <a:gd name="adj" fmla="val 5833"/>
            </a:avLst>
          </a:prstGeom>
          <a:solidFill>
            <a:srgbClr val="12514A"/>
          </a:solidFill>
          <a:ln/>
        </p:spPr>
      </p:sp>
      <p:sp>
        <p:nvSpPr>
          <p:cNvPr id="10" name="Shape 8"/>
          <p:cNvSpPr/>
          <p:nvPr/>
        </p:nvSpPr>
        <p:spPr>
          <a:xfrm>
            <a:off x="6446520" y="1975104"/>
            <a:ext cx="438912" cy="43891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46520" y="19751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18288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Contract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040880" y="2194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schema, units, provenance (data_dictionary.md)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2880360"/>
            <a:ext cx="5349240" cy="1097280"/>
          </a:xfrm>
          <a:prstGeom prst="roundRect">
            <a:avLst>
              <a:gd name="adj" fmla="val 5833"/>
            </a:avLst>
          </a:prstGeom>
          <a:solidFill>
            <a:srgbClr val="12514A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209544"/>
            <a:ext cx="438912" cy="43891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32095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0632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Cleaning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34290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raw→clean→validate; rating 0 = unrated, not 0/5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17920" y="2880360"/>
            <a:ext cx="5349240" cy="1097280"/>
          </a:xfrm>
          <a:prstGeom prst="roundRect">
            <a:avLst>
              <a:gd name="adj" fmla="val 5833"/>
            </a:avLst>
          </a:prstGeom>
          <a:solidFill>
            <a:srgbClr val="12514A"/>
          </a:solidFill>
          <a:ln/>
        </p:spPr>
      </p:sp>
      <p:sp>
        <p:nvSpPr>
          <p:cNvPr id="20" name="Shape 18"/>
          <p:cNvSpPr/>
          <p:nvPr/>
        </p:nvSpPr>
        <p:spPr>
          <a:xfrm>
            <a:off x="6446520" y="3209544"/>
            <a:ext cx="438912" cy="43891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46520" y="32095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30632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Standardization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040880" y="34290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schema, rating_norm, bilingual documents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114800"/>
            <a:ext cx="5349240" cy="1097280"/>
          </a:xfrm>
          <a:prstGeom prst="roundRect">
            <a:avLst>
              <a:gd name="adj" fmla="val 5833"/>
            </a:avLst>
          </a:prstGeom>
          <a:solidFill>
            <a:srgbClr val="12514A"/>
          </a:solidFill>
          <a:ln/>
        </p:spPr>
      </p:sp>
      <p:sp>
        <p:nvSpPr>
          <p:cNvPr id="25" name="Shape 23"/>
          <p:cNvSpPr/>
          <p:nvPr/>
        </p:nvSpPr>
        <p:spPr>
          <a:xfrm>
            <a:off x="868680" y="4443984"/>
            <a:ext cx="438912" cy="43891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68680" y="4443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42976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Entity Resolution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463040" y="46634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IDs (RYD_000123) via name+city+coords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217920" y="4114800"/>
            <a:ext cx="5349240" cy="1097280"/>
          </a:xfrm>
          <a:prstGeom prst="roundRect">
            <a:avLst>
              <a:gd name="adj" fmla="val 5833"/>
            </a:avLst>
          </a:prstGeom>
          <a:solidFill>
            <a:srgbClr val="12514A"/>
          </a:solidFill>
          <a:ln/>
        </p:spPr>
      </p:sp>
      <p:sp>
        <p:nvSpPr>
          <p:cNvPr id="30" name="Shape 28"/>
          <p:cNvSpPr/>
          <p:nvPr/>
        </p:nvSpPr>
        <p:spPr>
          <a:xfrm>
            <a:off x="6446520" y="4443984"/>
            <a:ext cx="438912" cy="43891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46520" y="4443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7040880" y="42976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KB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7040880" y="46634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exact filters + multilingual vector store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80644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21,782</a:t>
            </a:r>
            <a:endParaRPr lang="en-US" sz="30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63550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8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entity records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4343400" y="580644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10,027</a:t>
            </a:r>
            <a:endParaRPr lang="en-US" sz="3000" dirty="0"/>
          </a:p>
        </p:txBody>
      </p:sp>
      <p:sp>
        <p:nvSpPr>
          <p:cNvPr id="37" name="Text 35"/>
          <p:cNvSpPr txBox="1"/>
          <p:nvPr/>
        </p:nvSpPr>
        <p:spPr>
          <a:xfrm>
            <a:off x="4343400" y="63550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8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entities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8046720" y="580644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3000" dirty="0"/>
          </a:p>
        </p:txBody>
      </p:sp>
      <p:sp>
        <p:nvSpPr>
          <p:cNvPr id="39" name="Text 37"/>
          <p:cNvSpPr txBox="1"/>
          <p:nvPr/>
        </p:nvSpPr>
        <p:spPr>
          <a:xfrm>
            <a:off x="8046720" y="63550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8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 match a sample query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 — the experiment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3716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Retrieval layer   </a:t>
            </a:r>
            <a:pPr indent="0" marL="0">
              <a:buNone/>
            </a:pPr>
            <a:r>
              <a:rPr lang="en-US" sz="15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structured + semantic behind one interface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240280"/>
            <a:ext cx="457200" cy="457200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19456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Single-agent baseline   </a:t>
            </a:r>
            <a:pPr indent="0" marL="0">
              <a:buNone/>
            </a:pPr>
            <a:r>
              <a:rPr lang="en-US" sz="15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 arm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01752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Multi-agent system   </a:t>
            </a:r>
            <a:pPr indent="0" marL="0">
              <a:buNone/>
            </a:pPr>
            <a:r>
              <a:rPr lang="en-US" sz="15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/ Retrieval / Planning / Verifier + revise loop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3886200"/>
            <a:ext cx="457200" cy="457200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84048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test set   </a:t>
            </a:r>
            <a:pPr indent="0" marL="0">
              <a:buNone/>
            </a:pPr>
            <a:r>
              <a:rPr lang="en-US" sz="15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 scenarios: simple, constraint-heavy, temporal, spatial, preference, conflicting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4709160"/>
            <a:ext cx="457200" cy="457200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66344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runs   </a:t>
            </a:r>
            <a:pPr indent="0" marL="0">
              <a:buNone/>
            </a:pPr>
            <a:r>
              <a:rPr lang="en-US" sz="15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~420 itineraries across both arms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5532120"/>
            <a:ext cx="457200" cy="457200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54864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Metrics &amp; statistics   </a:t>
            </a:r>
            <a:pPr indent="0" marL="0">
              <a:buNone/>
            </a:pPr>
            <a:r>
              <a:rPr lang="en-US" sz="15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checks + human eval → paired comparison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40080" y="6263640"/>
            <a:ext cx="10881360" cy="0"/>
          </a:xfrm>
          <a:prstGeom prst="roundRect">
            <a:avLst>
              <a:gd name="adj" fmla="val Infinity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" y="6263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principle: hard constraints checked deterministically (structured layer); subjective quality via semantic retrieval + human eval.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2026-09-15T11:28:49Z</dcterms:created>
  <dcterms:modified xsi:type="dcterms:W3CDTF">2026-09-15T11:28:49Z</dcterms:modified>
</cp:coreProperties>
</file>