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Framing: the goal is an experiment isolating the effect of architecture, not a commercial product.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Isolation ensures measured differences come from orchestration, not data or model capability.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B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8745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Saudi Digital Concierge</a:t>
            </a:r>
            <a:endParaRPr lang="en-US" sz="4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78892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900" i="1" dirty="0">
                <a:solidFill>
                  <a:srgbClr val="CFE3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Multi-Agent LLM Framework for Personalized, Constraint-Aware, and Evidence-Grounded Travel Planning in Saudi Arabia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841248" y="3977640"/>
            <a:ext cx="146304" cy="146304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5" name="Shape 3"/>
          <p:cNvSpPr/>
          <p:nvPr/>
        </p:nvSpPr>
        <p:spPr>
          <a:xfrm>
            <a:off x="1225296" y="3977640"/>
            <a:ext cx="146304" cy="146304"/>
          </a:xfrm>
          <a:prstGeom prst="ellipse">
            <a:avLst/>
          </a:prstGeom>
          <a:solidFill>
            <a:srgbClr val="0E6E63"/>
          </a:solidFill>
          <a:ln/>
        </p:spPr>
      </p:sp>
      <p:sp>
        <p:nvSpPr>
          <p:cNvPr id="6" name="Shape 4"/>
          <p:cNvSpPr/>
          <p:nvPr/>
        </p:nvSpPr>
        <p:spPr>
          <a:xfrm>
            <a:off x="1609344" y="3977640"/>
            <a:ext cx="146304" cy="146304"/>
          </a:xfrm>
          <a:prstGeom prst="ellipse">
            <a:avLst/>
          </a:prstGeom>
          <a:solidFill>
            <a:srgbClr val="0E6E63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58064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Proposal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614476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8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pipeline &amp; hybrid knowledge base complete · experiment design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Research Question &amp; Hypotheses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280160"/>
            <a:ext cx="10881360" cy="1234440"/>
          </a:xfrm>
          <a:prstGeom prst="roundRect">
            <a:avLst>
              <a:gd name="adj" fmla="val 5926"/>
            </a:avLst>
          </a:prstGeom>
          <a:solidFill>
            <a:srgbClr val="F3EEE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1417320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6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Research Question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1755648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i="1" dirty="0">
                <a:solidFill>
                  <a:srgbClr val="1F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a multi-agent LLM architecture improve personalized, constraint-aware, and evidence-grounded travel planning in Saudi Arabia compared with an equivalent single-agent LLM — holding the model, knowledge base, and evaluation constant?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2788920"/>
            <a:ext cx="384048" cy="384048"/>
          </a:xfrm>
          <a:prstGeom prst="ellipse">
            <a:avLst/>
          </a:prstGeom>
          <a:solidFill>
            <a:srgbClr val="0E6E63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0080" y="2788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170432" y="2743200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E6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Constraints 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satisfies more explicit constraints (budget, dates, group, audience).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630168"/>
            <a:ext cx="384048" cy="384048"/>
          </a:xfrm>
          <a:prstGeom prst="ellipse">
            <a:avLst/>
          </a:prstGeom>
          <a:solidFill>
            <a:srgbClr val="0E6E63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" y="3630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170432" y="3584448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E6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Grounding 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unsupported claims — lower hallucination, higher evidence grounding (via the Verifier).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471416"/>
            <a:ext cx="384048" cy="384048"/>
          </a:xfrm>
          <a:prstGeom prst="ellipse">
            <a:avLst/>
          </a:prstGeom>
          <a:solidFill>
            <a:srgbClr val="0E6E63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" y="44714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H3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170432" y="4425696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E6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raters judge multi-agent itineraries better personalized / higher quality.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312664"/>
            <a:ext cx="384048" cy="384048"/>
          </a:xfrm>
          <a:prstGeom prst="ellipse">
            <a:avLst/>
          </a:prstGeom>
          <a:solidFill>
            <a:srgbClr val="0E6E63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0080" y="53126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H4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70432" y="5266944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E6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Gains carry a measurable cost — more tokens, latency, and API calls (the trade-off).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Baseline vs. Treatment — what is controlled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7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variable = agent architecture. Everything else is held identical.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5303520" cy="2377440"/>
          </a:xfrm>
          <a:prstGeom prst="roundRect">
            <a:avLst>
              <a:gd name="adj" fmla="val 3077"/>
            </a:avLst>
          </a:prstGeom>
          <a:solidFill>
            <a:srgbClr val="F3EEE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18288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Baseline — Single Agent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28600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LLM does everything: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F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→ retrieve → plan → answer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324612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Simple, single prompt. No verification loop.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63640" y="1645920"/>
            <a:ext cx="5257800" cy="2377440"/>
          </a:xfrm>
          <a:prstGeom prst="roundRect">
            <a:avLst>
              <a:gd name="adj" fmla="val 3077"/>
            </a:avLst>
          </a:prstGeom>
          <a:solidFill>
            <a:srgbClr val="0E6E63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537960" y="18288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Treatment — Multi-Agent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6537960" y="22860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 → Retrieval → Planning → Verifier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537960" y="26974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E8F3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Verifier checks the plan and loops back to Planning until every constraint is satisfied.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42976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6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Held constant across both arms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754880"/>
            <a:ext cx="3520440" cy="548640"/>
          </a:xfrm>
          <a:prstGeom prst="roundRect">
            <a:avLst>
              <a:gd name="adj" fmla="val 10000"/>
            </a:avLst>
          </a:prstGeom>
          <a:solidFill>
            <a:srgbClr val="F3EEE4"/>
          </a:solidFill>
          <a:ln/>
        </p:spPr>
      </p:sp>
      <p:sp>
        <p:nvSpPr>
          <p:cNvPr id="14" name="Shape 12"/>
          <p:cNvSpPr/>
          <p:nvPr/>
        </p:nvSpPr>
        <p:spPr>
          <a:xfrm>
            <a:off x="804672" y="4928616"/>
            <a:ext cx="201168" cy="201168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115568" y="475488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LLM &amp; generation settings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343400" y="4754880"/>
            <a:ext cx="3520440" cy="548640"/>
          </a:xfrm>
          <a:prstGeom prst="roundRect">
            <a:avLst>
              <a:gd name="adj" fmla="val 10000"/>
            </a:avLst>
          </a:prstGeom>
          <a:solidFill>
            <a:srgbClr val="F3EEE4"/>
          </a:solidFill>
          <a:ln/>
        </p:spPr>
      </p:sp>
      <p:sp>
        <p:nvSpPr>
          <p:cNvPr id="17" name="Shape 15"/>
          <p:cNvSpPr/>
          <p:nvPr/>
        </p:nvSpPr>
        <p:spPr>
          <a:xfrm>
            <a:off x="4507992" y="4928616"/>
            <a:ext cx="201168" cy="201168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818888" y="475488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hybrid knowledge base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046720" y="4754880"/>
            <a:ext cx="3520440" cy="548640"/>
          </a:xfrm>
          <a:prstGeom prst="roundRect">
            <a:avLst>
              <a:gd name="adj" fmla="val 10000"/>
            </a:avLst>
          </a:prstGeom>
          <a:solidFill>
            <a:srgbClr val="F3EEE4"/>
          </a:solidFill>
          <a:ln/>
        </p:spPr>
      </p:sp>
      <p:sp>
        <p:nvSpPr>
          <p:cNvPr id="20" name="Shape 18"/>
          <p:cNvSpPr/>
          <p:nvPr/>
        </p:nvSpPr>
        <p:spPr>
          <a:xfrm>
            <a:off x="8211312" y="4928616"/>
            <a:ext cx="201168" cy="201168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522208" y="475488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test scenarios &amp; prompts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40080" y="5440680"/>
            <a:ext cx="3520440" cy="548640"/>
          </a:xfrm>
          <a:prstGeom prst="roundRect">
            <a:avLst>
              <a:gd name="adj" fmla="val 10000"/>
            </a:avLst>
          </a:prstGeom>
          <a:solidFill>
            <a:srgbClr val="F3EEE4"/>
          </a:solidFill>
          <a:ln/>
        </p:spPr>
      </p:sp>
      <p:sp>
        <p:nvSpPr>
          <p:cNvPr id="23" name="Shape 21"/>
          <p:cNvSpPr/>
          <p:nvPr/>
        </p:nvSpPr>
        <p:spPr>
          <a:xfrm>
            <a:off x="804672" y="5614416"/>
            <a:ext cx="201168" cy="201168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1115568" y="544068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output schema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4343400" y="5440680"/>
            <a:ext cx="3520440" cy="548640"/>
          </a:xfrm>
          <a:prstGeom prst="roundRect">
            <a:avLst>
              <a:gd name="adj" fmla="val 10000"/>
            </a:avLst>
          </a:prstGeom>
          <a:solidFill>
            <a:srgbClr val="F3EEE4"/>
          </a:solidFill>
          <a:ln/>
        </p:spPr>
      </p:sp>
      <p:sp>
        <p:nvSpPr>
          <p:cNvPr id="26" name="Shape 24"/>
          <p:cNvSpPr/>
          <p:nvPr/>
        </p:nvSpPr>
        <p:spPr>
          <a:xfrm>
            <a:off x="4507992" y="5614416"/>
            <a:ext cx="201168" cy="201168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818888" y="544068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evaluation criteria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8046720" y="5440680"/>
            <a:ext cx="3520440" cy="548640"/>
          </a:xfrm>
          <a:prstGeom prst="roundRect">
            <a:avLst>
              <a:gd name="adj" fmla="val 10000"/>
            </a:avLst>
          </a:prstGeom>
          <a:solidFill>
            <a:srgbClr val="F3EEE4"/>
          </a:solidFill>
          <a:ln/>
        </p:spPr>
      </p:sp>
      <p:sp>
        <p:nvSpPr>
          <p:cNvPr id="29" name="Shape 27"/>
          <p:cNvSpPr/>
          <p:nvPr/>
        </p:nvSpPr>
        <p:spPr>
          <a:xfrm>
            <a:off x="8211312" y="5614416"/>
            <a:ext cx="201168" cy="201168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522208" y="544068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raters &amp; instructions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Metrics — defined operationally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325880"/>
            <a:ext cx="5577840" cy="4937760"/>
          </a:xfrm>
          <a:prstGeom prst="roundRect">
            <a:avLst>
              <a:gd name="adj" fmla="val 1296"/>
            </a:avLst>
          </a:prstGeom>
          <a:solidFill>
            <a:srgbClr val="E9F2F0"/>
          </a:solidFill>
          <a:ln/>
        </p:spPr>
      </p:sp>
      <p:sp>
        <p:nvSpPr>
          <p:cNvPr id="4" name="Shape 2"/>
          <p:cNvSpPr/>
          <p:nvPr/>
        </p:nvSpPr>
        <p:spPr>
          <a:xfrm>
            <a:off x="868680" y="1536192"/>
            <a:ext cx="256032" cy="256032"/>
          </a:xfrm>
          <a:prstGeom prst="ellipse">
            <a:avLst/>
          </a:prstGeom>
          <a:solidFill>
            <a:srgbClr val="0E6E63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207008" y="146304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0E6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Objective — deterministic (no LLM judge)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2148840"/>
            <a:ext cx="50292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Constraint Satisfaction = met ÷ requested</a:t>
            </a:r>
            <a:endParaRPr lang="en-US" sz="12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Adherence = Σcost ≤ budget (+ overspend %)</a:t>
            </a:r>
            <a:endParaRPr lang="en-US" sz="12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 Validity = events within trip window</a:t>
            </a:r>
            <a:endParaRPr lang="en-US" sz="12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Spatial Feasibility = consecutive stops within distance</a:t>
            </a:r>
            <a:endParaRPr lang="en-US" sz="12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Capacity/Audience = max_persons ≥ group; flags match</a:t>
            </a:r>
            <a:endParaRPr lang="en-US" sz="12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Grounding = items → canonical_id + source_url</a:t>
            </a:r>
            <a:endParaRPr lang="en-US" sz="12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Hallucination Rate = items NOT supported by the KB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400800" y="1325880"/>
            <a:ext cx="2743200" cy="4937760"/>
          </a:xfrm>
          <a:prstGeom prst="roundRect">
            <a:avLst>
              <a:gd name="adj" fmla="val 2333"/>
            </a:avLst>
          </a:prstGeom>
          <a:solidFill>
            <a:srgbClr val="FBF4DD"/>
          </a:solidFill>
          <a:ln/>
        </p:spPr>
      </p:sp>
      <p:sp>
        <p:nvSpPr>
          <p:cNvPr id="8" name="Shape 6"/>
          <p:cNvSpPr/>
          <p:nvPr/>
        </p:nvSpPr>
        <p:spPr>
          <a:xfrm>
            <a:off x="6629400" y="1536192"/>
            <a:ext cx="256032" cy="256032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967728" y="146304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Subjective — human eval (1–5)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6720840" y="2148840"/>
            <a:ext cx="219456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Personalization</a:t>
            </a:r>
            <a:endParaRPr lang="en-US" sz="130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Itinerary quality &amp; coherence</a:t>
            </a:r>
            <a:endParaRPr lang="en-US" sz="130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usefulness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9326880" y="1325880"/>
            <a:ext cx="2743200" cy="4937760"/>
          </a:xfrm>
          <a:prstGeom prst="roundRect">
            <a:avLst>
              <a:gd name="adj" fmla="val 2333"/>
            </a:avLst>
          </a:prstGeom>
          <a:solidFill>
            <a:srgbClr val="F3EEE4"/>
          </a:solidFill>
          <a:ln/>
        </p:spPr>
      </p:sp>
      <p:sp>
        <p:nvSpPr>
          <p:cNvPr id="12" name="Shape 10"/>
          <p:cNvSpPr/>
          <p:nvPr/>
        </p:nvSpPr>
        <p:spPr>
          <a:xfrm>
            <a:off x="9555480" y="1536192"/>
            <a:ext cx="256032" cy="256032"/>
          </a:xfrm>
          <a:prstGeom prst="ellipse">
            <a:avLst/>
          </a:prstGeom>
          <a:solidFill>
            <a:srgbClr val="0B3B3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893808" y="146304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0B3B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Efficiency — system cost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9646920" y="2148840"/>
            <a:ext cx="219456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 (s)</a:t>
            </a:r>
            <a:endParaRPr lang="en-US" sz="130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tokens (prompt + completion)</a:t>
            </a:r>
            <a:endParaRPr lang="en-US" sz="130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 LLM calls</a:t>
            </a:r>
            <a:endParaRPr lang="en-US" sz="130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Est. cost / itinerary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63550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scenario run N times per arm (≈70 × 3 × 2 ≈ 420 itineraries) → paired tests + effect sizes.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Sources &amp; Scope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78992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7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curated, bilingual (Arabic + English) sources</a:t>
            </a:r>
            <a:endParaRPr lang="en-US" sz="15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554480"/>
          <a:ext cx="676656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2743200"/>
                <a:gridCol w="11887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Source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E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Role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E6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Rows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E6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Tourism Reviews — Zenodo (CC0)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6B7B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Arabic reviews + aspect sentiment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3,543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Riyadh Places — Kaggle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6B7B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POIs / restaurants, ratings, coordinates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8,836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Saudi Tourism 2015–24 — Kaggle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6B7B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Demand, spending, overnight stays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1,058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DataSaudi Indicators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6B7B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Official stats (purpose, NPS, satisfaction)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~1,915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Enjoy.sa Events API — LIVE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6B7B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Events: dates, city, audience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5,802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Booking.com Hotels — Kaggle (2020)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6B7B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Hotels: price, ratings, coordinates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Entertainment — Kaggle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6B7B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Venues, ratings, categories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635240" y="1554480"/>
            <a:ext cx="3886200" cy="4754880"/>
          </a:xfrm>
          <a:prstGeom prst="roundRect">
            <a:avLst>
              <a:gd name="adj" fmla="val 1647"/>
            </a:avLst>
          </a:prstGeom>
          <a:solidFill>
            <a:srgbClr val="0B3B36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863840" y="171907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Scope &amp; Exclusions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955280" y="2194560"/>
            <a:ext cx="33375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00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E8F3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Hugging Face source dropped → Booking.com added</a:t>
            </a:r>
            <a:endParaRPr lang="en-US" sz="1250" dirty="0"/>
          </a:p>
          <a:p>
            <a:pPr marL="152400" indent="-152400">
              <a:lnSpc>
                <a:spcPct val="100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E8F3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Coordinates: strongest in Riyadh; thinner elsewhere</a:t>
            </a:r>
            <a:endParaRPr lang="en-US" sz="1250" dirty="0"/>
          </a:p>
          <a:p>
            <a:pPr marL="152400" indent="-152400">
              <a:lnSpc>
                <a:spcPct val="100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E8F3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Enjoy.sa is live; others are snapshots</a:t>
            </a:r>
            <a:endParaRPr lang="en-US" sz="1250" dirty="0"/>
          </a:p>
          <a:p>
            <a:pPr marL="152400" indent="-152400">
              <a:lnSpc>
                <a:spcPct val="100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E8F3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 prices are 2020 → shown as historical</a:t>
            </a:r>
            <a:endParaRPr lang="en-US" sz="1250" dirty="0"/>
          </a:p>
          <a:p>
            <a:pPr marL="152400" indent="-152400">
              <a:lnSpc>
                <a:spcPct val="100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E8F3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DataSaudi curated to ~5 tables (dropped duplicates)</a:t>
            </a:r>
            <a:endParaRPr lang="en-US" sz="1250" dirty="0"/>
          </a:p>
          <a:p>
            <a:pPr marL="152400" indent="-152400">
              <a:lnSpc>
                <a:spcPct val="100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E8F3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Non-Saudi &amp; corrupted rows excluded</a:t>
            </a:r>
            <a:endParaRPr lang="en-US" sz="1250" dirty="0"/>
          </a:p>
          <a:p>
            <a:pPr marL="152400" indent="-152400">
              <a:lnSpc>
                <a:spcPct val="100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E8F3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transport / booking transactions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Inside the data — real records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78992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7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rows from the cleaned datasets — the structured layer the Verifier filters on.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627632"/>
            <a:ext cx="237744" cy="237744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157276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Riyadh Places — POIs &amp; restaurants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88136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2743200"/>
                <a:gridCol w="1737360"/>
                <a:gridCol w="2286000"/>
                <a:gridCol w="128016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Name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E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Category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E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Rating (n)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E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Coordinates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E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City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E63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Chowking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B7B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Noodles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 (305)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B7B7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24.646, 46.717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Riyadh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islands delights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B7B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Asian | Seafood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 (239)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B7B7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24.646, 46.717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Riyadh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Eben Ezar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B7B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Asian | Japanese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 (5)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B7B7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24.647, 46.718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Riyadh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Shawarma Alaz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B7B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 Food | Shawarma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 (3)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B7B7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24.645, 46.718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Riyadh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4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40080" y="4160520"/>
            <a:ext cx="237744" cy="237744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960120" y="4105656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Booking.com Hotels — price &amp; guest ratings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4498848"/>
          <a:ext cx="1088136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2194560"/>
                <a:gridCol w="1371600"/>
                <a:gridCol w="822960"/>
                <a:gridCol w="1188720"/>
                <a:gridCol w="13716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Hotel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E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City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E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SAR/night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E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★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E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Guest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E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Free cancel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E63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 Points by Sheraton Al Naseem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B7B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Makkah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E6E6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Copper Crown Furnished Apartments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B7B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Khamis Mushait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E6E6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فندق راية الشلال 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B7B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Abū Qa‘Ar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E6E6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الريم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B7B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 Ula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E6E6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4"/>
                    </a:solidFill>
                  </a:tcPr>
                </a:tc>
              </a:tr>
            </a:tbl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640080" y="63550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7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Prices are 2020 snapshots (used as a static benchmark). Blank guest rating = unrated, kept as null — never coerced to 0.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evidence — reviews, events &amp; venues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7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Arabic + English throughout — the semantic layer embeds this text for grounding.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5486400" cy="2880360"/>
          </a:xfrm>
          <a:prstGeom prst="roundRect">
            <a:avLst>
              <a:gd name="adj" fmla="val 2540"/>
            </a:avLst>
          </a:prstGeom>
          <a:solidFill>
            <a:srgbClr val="F3EEE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173736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6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 — aspect sentiment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048256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منتزه الخلب · Al Bahah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331720"/>
            <a:ext cx="4937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en-US" sz="1250" i="1" dirty="0">
                <a:solidFill>
                  <a:srgbClr val="1F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منتزه وحديقة البرج مكان جميل … المطعم اكله لذيذ ونظيف … وبعد الساعة تنحسب رسوم ٢٠ ريال … وجدناها متسخة مع الامطار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914400" y="3566160"/>
            <a:ext cx="1325880" cy="384048"/>
          </a:xfrm>
          <a:prstGeom prst="roundRect">
            <a:avLst>
              <a:gd name="adj" fmla="val 47619"/>
            </a:avLst>
          </a:prstGeom>
          <a:solidFill>
            <a:srgbClr val="0E6E63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14400" y="3566160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 +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2423160" y="3566160"/>
            <a:ext cx="1709928" cy="384048"/>
          </a:xfrm>
          <a:prstGeom prst="roundRect">
            <a:avLst>
              <a:gd name="adj" fmla="val 47619"/>
            </a:avLst>
          </a:prstGeom>
          <a:solidFill>
            <a:srgbClr val="B8504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423160" y="3566160"/>
            <a:ext cx="170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Cleanliness  −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315968" y="3566160"/>
            <a:ext cx="1133856" cy="384048"/>
          </a:xfrm>
          <a:prstGeom prst="roundRect">
            <a:avLst>
              <a:gd name="adj" fmla="val 47619"/>
            </a:avLst>
          </a:prstGeom>
          <a:solidFill>
            <a:srgbClr val="0E6E63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315968" y="3566160"/>
            <a:ext cx="1133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 +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4041648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i="1" dirty="0">
                <a:solidFill>
                  <a:srgbClr val="6B7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aspects scored {−1, 0, +1}; null when not mentioned — a review can be positive overall yet flag cleanliness.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355080" y="1664208"/>
            <a:ext cx="219456" cy="219456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56832" y="1609344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Enjoy.sa Events (live API)</a:t>
            </a:r>
            <a:endParaRPr lang="en-US" sz="1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2011680"/>
          <a:ext cx="5166360" cy="914400"/>
        </p:xfrm>
        <a:graphic>
          <a:graphicData uri="http://schemas.openxmlformats.org/drawingml/2006/table">
            <a:tbl>
              <a:tblPr/>
              <a:tblGrid>
                <a:gridCol w="2331720"/>
                <a:gridCol w="914400"/>
                <a:gridCol w="1188720"/>
                <a:gridCol w="73152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Event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E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City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E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Date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E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Audience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E63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WWE سماك داون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B7B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Jeddah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2024-05-24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E6E6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Family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Comeback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B7B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Jeddah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2026-07-25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E6E6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Family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Lenny Jay's This Is Michae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B7B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Jeddah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2026-08-21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E6E6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Adults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Shape 15"/>
          <p:cNvSpPr/>
          <p:nvPr/>
        </p:nvSpPr>
        <p:spPr>
          <a:xfrm>
            <a:off x="6355080" y="3977640"/>
            <a:ext cx="219456" cy="219456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656832" y="3922776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Entertainment venues</a:t>
            </a:r>
            <a:endParaRPr lang="en-US" sz="140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4325112"/>
          <a:ext cx="516636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417320"/>
                <a:gridCol w="1051560"/>
                <a:gridCol w="59436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Venue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E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Genre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E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Rating (n)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E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City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E63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Maraya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B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Concert hall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 (1,100)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 Atheeb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vox cinemas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B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Movie theater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 (3,500)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Riyadh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المسرح الروماني | Roman Theater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B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Theater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 (151)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 Uqayr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" name="Text 17"/>
          <p:cNvSpPr txBox="1"/>
          <p:nvPr/>
        </p:nvSpPr>
        <p:spPr>
          <a:xfrm>
            <a:off x="640080" y="51206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7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carry per-audience flags (male / female / family) — the source of the temporal &amp; audience constraint checks.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Entity resolution — a real merge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78992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7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source rows, identical coordinates → one canonical entity. Names alone never merge — coordinates corroborate.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002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6B7B7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BEFORE — 2 source records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4114800" cy="1371600"/>
          </a:xfrm>
          <a:prstGeom prst="roundRect">
            <a:avLst>
              <a:gd name="adj" fmla="val 4667"/>
            </a:avLst>
          </a:prstGeom>
          <a:solidFill>
            <a:srgbClr val="F3EEE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21031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B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places_04934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3774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ALkhozama cafe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7157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lat/lon  </a:t>
            </a:r>
            <a:pPr indent="0" marL="0">
              <a:buNone/>
            </a:pPr>
            <a:r>
              <a:rPr lang="en-US" sz="1100" b="1" dirty="0">
                <a:solidFill>
                  <a:srgbClr val="0E6E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24.888313, 46.618195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9900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rating  </a:t>
            </a:r>
            <a:pPr indent="0" marL="0">
              <a:buNone/>
            </a:pPr>
            <a:r>
              <a:rPr lang="en-US" sz="1100" b="1" dirty="0">
                <a:solidFill>
                  <a:srgbClr val="1F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null (unrated)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" y="3474720"/>
            <a:ext cx="4114800" cy="1371600"/>
          </a:xfrm>
          <a:prstGeom prst="roundRect">
            <a:avLst>
              <a:gd name="adj" fmla="val 4667"/>
            </a:avLst>
          </a:prstGeom>
          <a:solidFill>
            <a:srgbClr val="F3EEE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68680" y="36118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B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places_04935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38862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ALkhozama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868680" y="42245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lat/lon  </a:t>
            </a:r>
            <a:pPr indent="0" marL="0">
              <a:buNone/>
            </a:pPr>
            <a:r>
              <a:rPr lang="en-US" sz="1100" b="1" dirty="0">
                <a:solidFill>
                  <a:srgbClr val="0E6E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24.888313, 46.618195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68680" y="449884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rating  </a:t>
            </a:r>
            <a:pPr indent="0" marL="0">
              <a:buNone/>
            </a:pPr>
            <a:r>
              <a:rPr lang="en-US" sz="1100" b="1" dirty="0">
                <a:solidFill>
                  <a:srgbClr val="1F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4.0 / 5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892040" y="2468880"/>
            <a:ext cx="1097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</a:t>
            </a:r>
            <a:endParaRPr lang="en-US" sz="5400" dirty="0"/>
          </a:p>
        </p:txBody>
      </p:sp>
      <p:sp>
        <p:nvSpPr>
          <p:cNvPr id="16" name="Shape 14"/>
          <p:cNvSpPr/>
          <p:nvPr/>
        </p:nvSpPr>
        <p:spPr>
          <a:xfrm>
            <a:off x="6172200" y="1965960"/>
            <a:ext cx="5349240" cy="2880360"/>
          </a:xfrm>
          <a:prstGeom prst="roundRect">
            <a:avLst>
              <a:gd name="adj" fmla="val 2540"/>
            </a:avLst>
          </a:prstGeom>
          <a:solidFill>
            <a:srgbClr val="0E6E63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172200" y="16002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E6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AFTER — 1 canonical entity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446520" y="21488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RYD_000154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6446520" y="25603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ALkhozama cafe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6446520" y="30632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FE0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 / region   </a:t>
            </a:r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Riyadh · Riyadh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6446520" y="347472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FE0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coordinates   </a:t>
            </a:r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24.888313, 46.618195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6446520" y="388620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FE0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members   </a:t>
            </a:r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(places_04934 | places_04935)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6446520" y="429768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FE0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IDs   </a:t>
            </a:r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retained on every member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40080" y="5212080"/>
            <a:ext cx="10881360" cy="1051560"/>
          </a:xfrm>
          <a:prstGeom prst="roundRect">
            <a:avLst>
              <a:gd name="adj" fmla="val 6087"/>
            </a:avLst>
          </a:prstGeom>
          <a:solidFill>
            <a:srgbClr val="0B3B3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14400" y="5349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Merge rule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914400" y="565099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E8F3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 only if coordinates corroborate: distance ≤ 20 m with name similarity ≥ 0.6, or ≤ 50 m with ≥ 0.85. No-coordinate name matches become review candidates, not automatic merges. Result: 10,382 → 10,027 entities (457 merges).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raw data to a retrievable knowledge base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39996" y="914400"/>
            <a:ext cx="3108960" cy="402336"/>
          </a:xfrm>
          <a:prstGeom prst="roundRect">
            <a:avLst>
              <a:gd name="adj" fmla="val 22727"/>
            </a:avLst>
          </a:prstGeom>
          <a:solidFill>
            <a:srgbClr val="0B3B3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39996" y="914400"/>
            <a:ext cx="3108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RAW DATA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820156" y="1335024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↓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3534156" y="1517904"/>
            <a:ext cx="5120640" cy="512064"/>
          </a:xfrm>
          <a:prstGeom prst="roundRect">
            <a:avLst>
              <a:gd name="adj" fmla="val 12500"/>
            </a:avLst>
          </a:prstGeom>
          <a:solidFill>
            <a:srgbClr val="F3EEE4"/>
          </a:solidFill>
          <a:ln/>
        </p:spPr>
      </p:sp>
      <p:sp>
        <p:nvSpPr>
          <p:cNvPr id="7" name="Shape 5"/>
          <p:cNvSpPr/>
          <p:nvPr/>
        </p:nvSpPr>
        <p:spPr>
          <a:xfrm>
            <a:off x="3680460" y="1581912"/>
            <a:ext cx="384048" cy="384048"/>
          </a:xfrm>
          <a:prstGeom prst="ellipse">
            <a:avLst/>
          </a:prstGeom>
          <a:solidFill>
            <a:srgbClr val="0E6E63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680460" y="15819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4219956" y="1563624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Quality Assessment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219956" y="1792224"/>
            <a:ext cx="4297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"What problems are here?"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820156" y="204825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↓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3534156" y="2176272"/>
            <a:ext cx="5120640" cy="512064"/>
          </a:xfrm>
          <a:prstGeom prst="roundRect">
            <a:avLst>
              <a:gd name="adj" fmla="val 12500"/>
            </a:avLst>
          </a:prstGeom>
          <a:solidFill>
            <a:srgbClr val="F3EEE4"/>
          </a:solidFill>
          <a:ln/>
        </p:spPr>
      </p:sp>
      <p:sp>
        <p:nvSpPr>
          <p:cNvPr id="13" name="Shape 11"/>
          <p:cNvSpPr/>
          <p:nvPr/>
        </p:nvSpPr>
        <p:spPr>
          <a:xfrm>
            <a:off x="3680460" y="2240280"/>
            <a:ext cx="384048" cy="384048"/>
          </a:xfrm>
          <a:prstGeom prst="ellipse">
            <a:avLst/>
          </a:prstGeom>
          <a:solidFill>
            <a:srgbClr val="0E6E63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680460" y="2240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4219956" y="2221992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Cleaning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19956" y="2450592"/>
            <a:ext cx="4297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"Fix the problems."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5820156" y="2706624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↓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3534156" y="2834640"/>
            <a:ext cx="5120640" cy="512064"/>
          </a:xfrm>
          <a:prstGeom prst="roundRect">
            <a:avLst>
              <a:gd name="adj" fmla="val 12500"/>
            </a:avLst>
          </a:prstGeom>
          <a:solidFill>
            <a:srgbClr val="F3EEE4"/>
          </a:solidFill>
          <a:ln/>
        </p:spPr>
      </p:sp>
      <p:sp>
        <p:nvSpPr>
          <p:cNvPr id="19" name="Shape 17"/>
          <p:cNvSpPr/>
          <p:nvPr/>
        </p:nvSpPr>
        <p:spPr>
          <a:xfrm>
            <a:off x="3680460" y="2898648"/>
            <a:ext cx="384048" cy="384048"/>
          </a:xfrm>
          <a:prstGeom prst="ellipse">
            <a:avLst/>
          </a:prstGeom>
          <a:solidFill>
            <a:srgbClr val="0E6E63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680460" y="2898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4219956" y="2880360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Standardization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4219956" y="3108960"/>
            <a:ext cx="4297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"Make all datasets use compatible structures."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5820156" y="33649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↓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3534156" y="3493008"/>
            <a:ext cx="5120640" cy="512064"/>
          </a:xfrm>
          <a:prstGeom prst="roundRect">
            <a:avLst>
              <a:gd name="adj" fmla="val 12500"/>
            </a:avLst>
          </a:prstGeom>
          <a:solidFill>
            <a:srgbClr val="F3EEE4"/>
          </a:solidFill>
          <a:ln/>
        </p:spPr>
      </p:sp>
      <p:sp>
        <p:nvSpPr>
          <p:cNvPr id="25" name="Shape 23"/>
          <p:cNvSpPr/>
          <p:nvPr/>
        </p:nvSpPr>
        <p:spPr>
          <a:xfrm>
            <a:off x="3680460" y="3557016"/>
            <a:ext cx="384048" cy="384048"/>
          </a:xfrm>
          <a:prstGeom prst="ellipse">
            <a:avLst/>
          </a:prstGeom>
          <a:solidFill>
            <a:srgbClr val="0E6E6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3680460" y="35570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4219956" y="3538728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Entity Resolution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4219956" y="3767328"/>
            <a:ext cx="4297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"Which records refer to the same real-world thing?"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820156" y="4023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↓</a:t>
            </a:r>
            <a:endParaRPr lang="en-US" sz="2000" dirty="0"/>
          </a:p>
        </p:txBody>
      </p:sp>
      <p:sp>
        <p:nvSpPr>
          <p:cNvPr id="30" name="Shape 28"/>
          <p:cNvSpPr/>
          <p:nvPr/>
        </p:nvSpPr>
        <p:spPr>
          <a:xfrm>
            <a:off x="3534156" y="4151376"/>
            <a:ext cx="5120640" cy="512064"/>
          </a:xfrm>
          <a:prstGeom prst="roundRect">
            <a:avLst>
              <a:gd name="adj" fmla="val 12500"/>
            </a:avLst>
          </a:prstGeom>
          <a:solidFill>
            <a:srgbClr val="0E6E63"/>
          </a:solidFill>
          <a:ln/>
        </p:spPr>
      </p:sp>
      <p:sp>
        <p:nvSpPr>
          <p:cNvPr id="31" name="Shape 29"/>
          <p:cNvSpPr/>
          <p:nvPr/>
        </p:nvSpPr>
        <p:spPr>
          <a:xfrm>
            <a:off x="3680460" y="4215384"/>
            <a:ext cx="384048" cy="384048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3680460" y="42153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3B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800" dirty="0"/>
          </a:p>
        </p:txBody>
      </p:sp>
      <p:sp>
        <p:nvSpPr>
          <p:cNvPr id="33" name="Text 31"/>
          <p:cNvSpPr txBox="1"/>
          <p:nvPr/>
        </p:nvSpPr>
        <p:spPr>
          <a:xfrm>
            <a:off x="4219956" y="4197096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Knowledge Base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4219956" y="4425696"/>
            <a:ext cx="4297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E8F3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"Store it so the AI can retrieve it."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094476" y="4663440"/>
            <a:ext cx="0" cy="146304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794760" y="4809744"/>
            <a:ext cx="4572000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794760" y="4809744"/>
            <a:ext cx="0" cy="18288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366760" y="4809744"/>
            <a:ext cx="0" cy="18288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11680" y="5029200"/>
            <a:ext cx="3566160" cy="1600200"/>
          </a:xfrm>
          <a:prstGeom prst="roundRect">
            <a:avLst>
              <a:gd name="adj" fmla="val 4571"/>
            </a:avLst>
          </a:prstGeom>
          <a:solidFill>
            <a:srgbClr val="E9F2F0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2267712" y="5157216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6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Structured</a:t>
            </a:r>
            <a:endParaRPr lang="en-US" sz="1600" dirty="0"/>
          </a:p>
        </p:txBody>
      </p:sp>
      <p:sp>
        <p:nvSpPr>
          <p:cNvPr id="41" name="Text 39"/>
          <p:cNvSpPr txBox="1"/>
          <p:nvPr/>
        </p:nvSpPr>
        <p:spPr>
          <a:xfrm>
            <a:off x="2267712" y="5449824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SQLite</a:t>
            </a:r>
            <a:endParaRPr lang="en-US" sz="1150" dirty="0"/>
          </a:p>
        </p:txBody>
      </p:sp>
      <p:sp>
        <p:nvSpPr>
          <p:cNvPr id="42" name="Text 40"/>
          <p:cNvSpPr txBox="1"/>
          <p:nvPr/>
        </p:nvSpPr>
        <p:spPr>
          <a:xfrm>
            <a:off x="2267712" y="5705856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Exact facts</a:t>
            </a:r>
            <a:endParaRPr lang="en-US" sz="1250" dirty="0"/>
          </a:p>
        </p:txBody>
      </p:sp>
      <p:sp>
        <p:nvSpPr>
          <p:cNvPr id="43" name="Text 41"/>
          <p:cNvSpPr txBox="1"/>
          <p:nvPr/>
        </p:nvSpPr>
        <p:spPr>
          <a:xfrm>
            <a:off x="2304288" y="5980176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lnSpc>
                <a:spcPct val="95000"/>
              </a:lnSpc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F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dates</a:t>
            </a:r>
            <a:endParaRPr lang="en-US" sz="1100" dirty="0"/>
          </a:p>
          <a:p>
            <a:pPr marL="127000" indent="-127000">
              <a:lnSpc>
                <a:spcPct val="95000"/>
              </a:lnSpc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F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prices</a:t>
            </a:r>
            <a:endParaRPr lang="en-US" sz="1100" dirty="0"/>
          </a:p>
          <a:p>
            <a:pPr marL="127000" indent="-127000">
              <a:lnSpc>
                <a:spcPct val="95000"/>
              </a:lnSpc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F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ratings</a:t>
            </a:r>
            <a:endParaRPr lang="en-US" sz="1100" dirty="0"/>
          </a:p>
          <a:p>
            <a:pPr marL="127000" indent="-127000">
              <a:lnSpc>
                <a:spcPct val="95000"/>
              </a:lnSpc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F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6583680" y="5029200"/>
            <a:ext cx="3566160" cy="1600200"/>
          </a:xfrm>
          <a:prstGeom prst="roundRect">
            <a:avLst>
              <a:gd name="adj" fmla="val 4571"/>
            </a:avLst>
          </a:prstGeom>
          <a:solidFill>
            <a:srgbClr val="0E6E63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6839712" y="5157216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3C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Semantic</a:t>
            </a:r>
            <a:endParaRPr lang="en-US" sz="1600" dirty="0"/>
          </a:p>
        </p:txBody>
      </p:sp>
      <p:sp>
        <p:nvSpPr>
          <p:cNvPr id="46" name="Text 44"/>
          <p:cNvSpPr txBox="1"/>
          <p:nvPr/>
        </p:nvSpPr>
        <p:spPr>
          <a:xfrm>
            <a:off x="6839712" y="5449824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AF6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Vector Store</a:t>
            </a:r>
            <a:endParaRPr lang="en-US" sz="1150" dirty="0"/>
          </a:p>
        </p:txBody>
      </p:sp>
      <p:sp>
        <p:nvSpPr>
          <p:cNvPr id="47" name="Text 45"/>
          <p:cNvSpPr txBox="1"/>
          <p:nvPr/>
        </p:nvSpPr>
        <p:spPr>
          <a:xfrm>
            <a:off x="6839712" y="5705856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Meaning / evidence</a:t>
            </a:r>
            <a:endParaRPr lang="en-US" sz="1250" dirty="0"/>
          </a:p>
        </p:txBody>
      </p:sp>
      <p:sp>
        <p:nvSpPr>
          <p:cNvPr id="48" name="Text 46"/>
          <p:cNvSpPr txBox="1"/>
          <p:nvPr/>
        </p:nvSpPr>
        <p:spPr>
          <a:xfrm>
            <a:off x="6876288" y="5980176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lnSpc>
                <a:spcPct val="95000"/>
              </a:lnSpc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reviews</a:t>
            </a:r>
            <a:endParaRPr lang="en-US" sz="1100" dirty="0"/>
          </a:p>
          <a:p>
            <a:pPr marL="127000" indent="-127000">
              <a:lnSpc>
                <a:spcPct val="95000"/>
              </a:lnSpc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descriptions</a:t>
            </a:r>
            <a:endParaRPr lang="en-US" sz="1100" dirty="0"/>
          </a:p>
          <a:p>
            <a:pPr marL="127000" indent="-127000">
              <a:lnSpc>
                <a:spcPct val="95000"/>
              </a:lnSpc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preferences</a:t>
            </a:r>
            <a:endParaRPr lang="en-US" sz="1100" dirty="0"/>
          </a:p>
          <a:p>
            <a:pPr marL="127000" indent="-127000">
              <a:lnSpc>
                <a:spcPct val="95000"/>
              </a:lnSpc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contextual text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file trail — one café through the pipeline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98755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stage writes its own file; standardization splits into two shapes — one per half of the hybrid KB.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2743200" y="1417320"/>
            <a:ext cx="3566160" cy="749808"/>
          </a:xfrm>
          <a:prstGeom prst="roundRect">
            <a:avLst>
              <a:gd name="adj" fmla="val 7317"/>
            </a:avLst>
          </a:prstGeom>
          <a:solidFill>
            <a:srgbClr val="F3EEE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2907792" y="1527048"/>
            <a:ext cx="3273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2A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raw/places.csv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2907792" y="1819656"/>
            <a:ext cx="3273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B7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messy rows · rating=0 · "Riyadh, Saudi Arabia"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6446520" y="15544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4251960" y="219456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↓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2743200" y="2487168"/>
            <a:ext cx="3566160" cy="749808"/>
          </a:xfrm>
          <a:prstGeom prst="roundRect">
            <a:avLst>
              <a:gd name="adj" fmla="val 7317"/>
            </a:avLst>
          </a:prstGeom>
          <a:solidFill>
            <a:srgbClr val="F3EEE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907792" y="2596896"/>
            <a:ext cx="3273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2A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processed/places_clean.csv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2907792" y="2889504"/>
            <a:ext cx="3273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B7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rating 0→null · city→Riyadh/Riyadh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6446520" y="262432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4251960" y="3264408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↓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1463040" y="3566160"/>
            <a:ext cx="6126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6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standardize → splits into two shapes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" y="3913632"/>
            <a:ext cx="3703320" cy="749808"/>
          </a:xfrm>
          <a:prstGeom prst="roundRect">
            <a:avLst>
              <a:gd name="adj" fmla="val 7317"/>
            </a:avLst>
          </a:prstGeom>
          <a:solidFill>
            <a:srgbClr val="E9F2F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04672" y="4023360"/>
            <a:ext cx="3410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2A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entities_core.csv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804672" y="4315968"/>
            <a:ext cx="34107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B7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facts to FILTER · rating_norm 0.8 · city · price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617720" y="3913632"/>
            <a:ext cx="3703320" cy="749808"/>
          </a:xfrm>
          <a:prstGeom prst="roundRect">
            <a:avLst>
              <a:gd name="adj" fmla="val 7317"/>
            </a:avLst>
          </a:prstGeom>
          <a:solidFill>
            <a:srgbClr val="FBF4DD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782312" y="4023360"/>
            <a:ext cx="3410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2A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kb_documents.csv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4782312" y="4315968"/>
            <a:ext cx="34107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B7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to embed + embed flag · language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8732520" y="1417320"/>
            <a:ext cx="2880360" cy="2148840"/>
          </a:xfrm>
          <a:prstGeom prst="roundRect">
            <a:avLst>
              <a:gd name="adj" fmla="val 3404"/>
            </a:avLst>
          </a:prstGeom>
          <a:solidFill>
            <a:srgbClr val="0B3B3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961120" y="157276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Structured layer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8961120" y="1883664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knowledge_base.sqlite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8961120" y="2212848"/>
            <a:ext cx="2468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E8F3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filters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FE0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 = Riyadh AND rating_norm ≥ 0.8 AND price ≤ 50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8732520" y="3703320"/>
            <a:ext cx="2880360" cy="2560320"/>
          </a:xfrm>
          <a:prstGeom prst="roundRect">
            <a:avLst>
              <a:gd name="adj" fmla="val 2857"/>
            </a:avLst>
          </a:prstGeom>
          <a:solidFill>
            <a:srgbClr val="0E6E6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961120" y="385876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3C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Semantic layer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8961120" y="4169664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vector_store/  (.npy + meta)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8961120" y="4498848"/>
            <a:ext cx="2468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meaning search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F3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“cozy, family-friendly vibe” → 768-dim vector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8229600" y="219456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</a:t>
            </a:r>
            <a:endParaRPr lang="en-US" sz="2600" dirty="0"/>
          </a:p>
        </p:txBody>
      </p:sp>
      <p:sp>
        <p:nvSpPr>
          <p:cNvPr id="30" name="Text 28"/>
          <p:cNvSpPr txBox="1"/>
          <p:nvPr/>
        </p:nvSpPr>
        <p:spPr>
          <a:xfrm>
            <a:off x="8229600" y="448056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</a:t>
            </a:r>
            <a:endParaRPr lang="en-US" sz="2600" dirty="0"/>
          </a:p>
        </p:txBody>
      </p:sp>
      <p:sp>
        <p:nvSpPr>
          <p:cNvPr id="31" name="Text 29"/>
          <p:cNvSpPr txBox="1"/>
          <p:nvPr/>
        </p:nvSpPr>
        <p:spPr>
          <a:xfrm>
            <a:off x="8732520" y="59893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B7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KB (regenerable, git-ignored)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640080" y="5029200"/>
            <a:ext cx="7680960" cy="1234440"/>
          </a:xfrm>
          <a:prstGeom prst="roundRect">
            <a:avLst>
              <a:gd name="adj" fmla="val 5185"/>
            </a:avLst>
          </a:prstGeom>
          <a:solidFill>
            <a:srgbClr val="F3EEE4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868680" y="5138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6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Entity resolution (between the split and the KB) writes 4 relationship files: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868680" y="544068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F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canonical_entities</a:t>
            </a:r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B7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(master list)   </a:t>
            </a:r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F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entity_crosswalk</a:t>
            </a:r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B7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(source→canonical join hub)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F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candidate_links</a:t>
            </a:r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B7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(near-matches, not merged)   </a:t>
            </a:r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F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review_place_links</a:t>
            </a:r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B7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(review→place)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3B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What's built — the data pipeline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9FB8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Reproducible, raw → clean → standardize → resolve → hybrid KB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5349240" cy="1097280"/>
          </a:xfrm>
          <a:prstGeom prst="roundRect">
            <a:avLst>
              <a:gd name="adj" fmla="val 5833"/>
            </a:avLst>
          </a:prstGeom>
          <a:solidFill>
            <a:srgbClr val="12514A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1975104"/>
            <a:ext cx="438912" cy="438912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197510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3B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182880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Exploration &amp; Audit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219456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CFE3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Per-source notebooks + 11-point quality audit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17920" y="1645920"/>
            <a:ext cx="5349240" cy="1097280"/>
          </a:xfrm>
          <a:prstGeom prst="roundRect">
            <a:avLst>
              <a:gd name="adj" fmla="val 5833"/>
            </a:avLst>
          </a:prstGeom>
          <a:solidFill>
            <a:srgbClr val="12514A"/>
          </a:solidFill>
          <a:ln/>
        </p:spPr>
      </p:sp>
      <p:sp>
        <p:nvSpPr>
          <p:cNvPr id="10" name="Shape 8"/>
          <p:cNvSpPr/>
          <p:nvPr/>
        </p:nvSpPr>
        <p:spPr>
          <a:xfrm>
            <a:off x="6446520" y="1975104"/>
            <a:ext cx="438912" cy="438912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46520" y="197510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3B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040880" y="182880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Contract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7040880" y="219456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CFE3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schema, units, provenance (data_dictionary.md)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2880360"/>
            <a:ext cx="5349240" cy="1097280"/>
          </a:xfrm>
          <a:prstGeom prst="roundRect">
            <a:avLst>
              <a:gd name="adj" fmla="val 5833"/>
            </a:avLst>
          </a:prstGeom>
          <a:solidFill>
            <a:srgbClr val="12514A"/>
          </a:solidFill>
          <a:ln/>
        </p:spPr>
      </p:sp>
      <p:sp>
        <p:nvSpPr>
          <p:cNvPr id="15" name="Shape 13"/>
          <p:cNvSpPr/>
          <p:nvPr/>
        </p:nvSpPr>
        <p:spPr>
          <a:xfrm>
            <a:off x="868680" y="3209544"/>
            <a:ext cx="438912" cy="438912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68680" y="320954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3B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463040" y="306324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Cleaning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463040" y="342900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CFE3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raw→clean→validate; rating 0 = unrated, not 0/5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217920" y="2880360"/>
            <a:ext cx="5349240" cy="1097280"/>
          </a:xfrm>
          <a:prstGeom prst="roundRect">
            <a:avLst>
              <a:gd name="adj" fmla="val 5833"/>
            </a:avLst>
          </a:prstGeom>
          <a:solidFill>
            <a:srgbClr val="12514A"/>
          </a:solidFill>
          <a:ln/>
        </p:spPr>
      </p:sp>
      <p:sp>
        <p:nvSpPr>
          <p:cNvPr id="20" name="Shape 18"/>
          <p:cNvSpPr/>
          <p:nvPr/>
        </p:nvSpPr>
        <p:spPr>
          <a:xfrm>
            <a:off x="6446520" y="3209544"/>
            <a:ext cx="438912" cy="438912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446520" y="320954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3B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7040880" y="306324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Standardization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7040880" y="342900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CFE3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schema, rating_norm, bilingual documents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40080" y="4114800"/>
            <a:ext cx="5349240" cy="1097280"/>
          </a:xfrm>
          <a:prstGeom prst="roundRect">
            <a:avLst>
              <a:gd name="adj" fmla="val 5833"/>
            </a:avLst>
          </a:prstGeom>
          <a:solidFill>
            <a:srgbClr val="12514A"/>
          </a:solidFill>
          <a:ln/>
        </p:spPr>
      </p:sp>
      <p:sp>
        <p:nvSpPr>
          <p:cNvPr id="25" name="Shape 23"/>
          <p:cNvSpPr/>
          <p:nvPr/>
        </p:nvSpPr>
        <p:spPr>
          <a:xfrm>
            <a:off x="868680" y="4443984"/>
            <a:ext cx="438912" cy="438912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68680" y="444398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3B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27" name="Text 25"/>
          <p:cNvSpPr txBox="1"/>
          <p:nvPr/>
        </p:nvSpPr>
        <p:spPr>
          <a:xfrm>
            <a:off x="1463040" y="429768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Entity Resolution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1463040" y="466344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CFE3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Canonical IDs (RYD_000123) via name+city+coords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6217920" y="4114800"/>
            <a:ext cx="5349240" cy="1097280"/>
          </a:xfrm>
          <a:prstGeom prst="roundRect">
            <a:avLst>
              <a:gd name="adj" fmla="val 5833"/>
            </a:avLst>
          </a:prstGeom>
          <a:solidFill>
            <a:srgbClr val="12514A"/>
          </a:solidFill>
          <a:ln/>
        </p:spPr>
      </p:sp>
      <p:sp>
        <p:nvSpPr>
          <p:cNvPr id="30" name="Shape 28"/>
          <p:cNvSpPr/>
          <p:nvPr/>
        </p:nvSpPr>
        <p:spPr>
          <a:xfrm>
            <a:off x="6446520" y="4443984"/>
            <a:ext cx="438912" cy="438912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446520" y="444398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3B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000" dirty="0"/>
          </a:p>
        </p:txBody>
      </p:sp>
      <p:sp>
        <p:nvSpPr>
          <p:cNvPr id="32" name="Text 30"/>
          <p:cNvSpPr txBox="1"/>
          <p:nvPr/>
        </p:nvSpPr>
        <p:spPr>
          <a:xfrm>
            <a:off x="7040880" y="429768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Hybrid KB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7040880" y="466344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CFE3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exact filters + multilingual vector store</a:t>
            </a:r>
            <a:endParaRPr lang="en-US" sz="1250" dirty="0"/>
          </a:p>
        </p:txBody>
      </p:sp>
      <p:sp>
        <p:nvSpPr>
          <p:cNvPr id="34" name="Text 32"/>
          <p:cNvSpPr txBox="1"/>
          <p:nvPr/>
        </p:nvSpPr>
        <p:spPr>
          <a:xfrm>
            <a:off x="640080" y="5806440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21,782</a:t>
            </a:r>
            <a:endParaRPr lang="en-US" sz="3000" dirty="0"/>
          </a:p>
        </p:txBody>
      </p:sp>
      <p:sp>
        <p:nvSpPr>
          <p:cNvPr id="35" name="Text 33"/>
          <p:cNvSpPr txBox="1"/>
          <p:nvPr/>
        </p:nvSpPr>
        <p:spPr>
          <a:xfrm>
            <a:off x="640080" y="635508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8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entity records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4343400" y="5806440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10,027</a:t>
            </a:r>
            <a:endParaRPr lang="en-US" sz="3000" dirty="0"/>
          </a:p>
        </p:txBody>
      </p:sp>
      <p:sp>
        <p:nvSpPr>
          <p:cNvPr id="37" name="Text 35"/>
          <p:cNvSpPr txBox="1"/>
          <p:nvPr/>
        </p:nvSpPr>
        <p:spPr>
          <a:xfrm>
            <a:off x="4343400" y="635508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8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canonical entities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8046720" y="5806440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34</a:t>
            </a:r>
            <a:endParaRPr lang="en-US" sz="3000" dirty="0"/>
          </a:p>
        </p:txBody>
      </p:sp>
      <p:sp>
        <p:nvSpPr>
          <p:cNvPr id="39" name="Text 37"/>
          <p:cNvSpPr txBox="1"/>
          <p:nvPr/>
        </p:nvSpPr>
        <p:spPr>
          <a:xfrm>
            <a:off x="8046720" y="635508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8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hotels match a sample query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What's next — the experiment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417320"/>
            <a:ext cx="457200" cy="457200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417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371600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6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Retrieval layer   </a:t>
            </a:r>
            <a:pPr indent="0" marL="0">
              <a:buNone/>
            </a:pPr>
            <a:r>
              <a:rPr lang="en-US" sz="1500" dirty="0">
                <a:solidFill>
                  <a:srgbClr val="1F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 structured + semantic behind one interface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2240280"/>
            <a:ext cx="457200" cy="457200"/>
          </a:xfrm>
          <a:prstGeom prst="ellipse">
            <a:avLst/>
          </a:prstGeom>
          <a:solidFill>
            <a:srgbClr val="0E6E63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0080" y="2240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2194560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6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Single-agent baseline   </a:t>
            </a:r>
            <a:pPr indent="0" marL="0">
              <a:buNone/>
            </a:pPr>
            <a:r>
              <a:rPr lang="en-US" sz="1500" dirty="0">
                <a:solidFill>
                  <a:srgbClr val="1F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control arm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3063240"/>
            <a:ext cx="457200" cy="457200"/>
          </a:xfrm>
          <a:prstGeom prst="ellipse">
            <a:avLst/>
          </a:prstGeom>
          <a:solidFill>
            <a:srgbClr val="0E6E63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" y="3063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80160" y="3017520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6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Multi-agent system   </a:t>
            </a:r>
            <a:pPr indent="0" marL="0">
              <a:buNone/>
            </a:pPr>
            <a:r>
              <a:rPr lang="en-US" sz="1500" dirty="0">
                <a:solidFill>
                  <a:srgbClr val="1F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 / Retrieval / Planning / Verifier + revise loop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0080" y="3886200"/>
            <a:ext cx="457200" cy="457200"/>
          </a:xfrm>
          <a:prstGeom prst="ellipse">
            <a:avLst/>
          </a:prstGeom>
          <a:solidFill>
            <a:srgbClr val="0E6E63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" y="3886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840480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6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Evaluation test set   </a:t>
            </a:r>
            <a:pPr indent="0" marL="0">
              <a:buNone/>
            </a:pPr>
            <a:r>
              <a:rPr lang="en-US" sz="1500" dirty="0">
                <a:solidFill>
                  <a:srgbClr val="1F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~70 scenarios: simple, constraint-heavy, temporal, spatial, preference, conflicting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40080" y="4709160"/>
            <a:ext cx="457200" cy="457200"/>
          </a:xfrm>
          <a:prstGeom prst="ellipse">
            <a:avLst/>
          </a:prstGeom>
          <a:solidFill>
            <a:srgbClr val="0E6E63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0080" y="4709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280160" y="4663440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6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Experimental runs   </a:t>
            </a:r>
            <a:pPr indent="0" marL="0">
              <a:buNone/>
            </a:pPr>
            <a:r>
              <a:rPr lang="en-US" sz="1500" dirty="0">
                <a:solidFill>
                  <a:srgbClr val="1F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~420 itineraries across both arms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40080" y="5532120"/>
            <a:ext cx="457200" cy="457200"/>
          </a:xfrm>
          <a:prstGeom prst="ellipse">
            <a:avLst/>
          </a:prstGeom>
          <a:solidFill>
            <a:srgbClr val="0E6E63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40080" y="5532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1280160" y="5486400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6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Metrics &amp; statistics   </a:t>
            </a:r>
            <a:pPr indent="0" marL="0">
              <a:buNone/>
            </a:pPr>
            <a:r>
              <a:rPr lang="en-US" sz="1500" dirty="0">
                <a:solidFill>
                  <a:srgbClr val="1F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checks + human eval → paired comparison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640080" y="6263640"/>
            <a:ext cx="10881360" cy="0"/>
          </a:xfrm>
          <a:prstGeom prst="roundRect">
            <a:avLst>
              <a:gd name="adj" fmla="val Infinity"/>
            </a:avLst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40080" y="62636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principle: hard constraints checked deterministically (structured layer); subjective quality via semantic retrieval + human eval.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2026-09-15T11:46:55Z</dcterms:created>
  <dcterms:modified xsi:type="dcterms:W3CDTF">2026-09-15T11:46:55Z</dcterms:modified>
</cp:coreProperties>
</file>