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goal is an experiment isolating the effect of architecture, not a commercial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Isolation ensures measured differences come from orchestration, not data or model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Saudi Digital Concierge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88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LLM Framework for Personalized, Constraint-Aware, and Evidence-Grounded Travel Planning in Saudi Arabia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41248" y="3977640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225296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Proposal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44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&amp; hybrid knowledge base complete · experiment design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 &amp; Hypotheses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3EEE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17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75564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i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multi-agent LLM architecture improve personalized, constraint-aware, and evidence-grounded travel planning in Saudi Arabia compared with an equivalent single-agent LLM — holding the model, knowledge base, and evaluation constant?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743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satisfies more explicit constraints (budget, dates, group, audience).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5844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unsupported claims — lower hallucination, higher evidence grounding (via the Verifier).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42569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raters judge multi-agent itineraries better personalized / higher quality.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312664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5312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526694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carry a measurable cost — more tokens, latency, and API calls (the trade-off).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vs. Treatment — what is controlled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= agent architecture. Everything else is held identical.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— Single Agent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does everything: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→ retrieve → plan → answer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single prompt. No verification loop.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0E6E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 — Multi-Agent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Retrieval → Planning → Verifier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6974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checks the plan and loops back to Planning until every constraint is satisfied.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Held constant across both arms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1556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LLM &amp; generation settings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4340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0799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1888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hybrid knowledge base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1131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2220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test scenarios &amp; prompts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67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1556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output schema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340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799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1888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evaluation criteria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4672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9" name="Shape 27"/>
          <p:cNvSpPr/>
          <p:nvPr/>
        </p:nvSpPr>
        <p:spPr>
          <a:xfrm>
            <a:off x="821131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2220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raters &amp; instructions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— defined operationally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577840" cy="4937760"/>
          </a:xfrm>
          <a:prstGeom prst="roundRect">
            <a:avLst>
              <a:gd name="adj" fmla="val 1296"/>
            </a:avLst>
          </a:prstGeom>
          <a:solidFill>
            <a:srgbClr val="E9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36192"/>
            <a:ext cx="256032" cy="256032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07008" y="14630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— deterministic (no LLM judge)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4884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Satisfaction = met ÷ requested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Adherence = Σcost ≤ budget (+ overspend %)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Validity = events within trip window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Feasibility = consecutive stops within distance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Capacity/Audience = max_persons ≥ group; flags match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Grounding = items → canonical_id + source_url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 = items NOT supported by the KB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BF4DD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536192"/>
            <a:ext cx="256032" cy="25603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6772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— human eval (1–5)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Itinerary quality &amp; coherence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usefulness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3E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5480" y="1536192"/>
            <a:ext cx="256032" cy="256032"/>
          </a:xfrm>
          <a:prstGeom prst="ellipse">
            <a:avLst/>
          </a:prstGeom>
          <a:solidFill>
            <a:srgbClr val="0B3B3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9380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Efficiency — system cost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(s)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 (prompt + completion)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LLM calls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 / itinerary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run N times per arm (≈70 × 3 × 2 ≈ 420 itineraries) → paired tests + effect sizes.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Sources &amp; Scope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curated, bilingual (Arabic + English) sources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Source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Role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Rows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 Reviews — Zenodo (CC0)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reviews + aspect sentiment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 Places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/ restaurants,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Tourism 2015–24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Demand, spending, overnight stays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DataSaudi Indicators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stats (purpose, NPS, satisfaction)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~1,915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Enjoy.sa Events API —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Events: dates, city, audience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Booking.com Hotels — Kaggle (2020)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Hotels: price,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Entertainment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Venues, ratings, categories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554480"/>
            <a:ext cx="3886200" cy="4754880"/>
          </a:xfrm>
          <a:prstGeom prst="roundRect">
            <a:avLst>
              <a:gd name="adj" fmla="val 1647"/>
            </a:avLst>
          </a:prstGeom>
          <a:solidFill>
            <a:srgbClr val="0B3B3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Exclusions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194560"/>
            <a:ext cx="3337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source dropped → Booking.com added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Coordinates: strongest in Riyadh; thinner elsewhere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Enjoy.sa is live; others are snapshots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prices are 2020 → shown as historical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DataSaudi curated to ~5 tables (dropped duplicates)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Non-Saudi &amp; corrupted rows excluded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transport / booking transactions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data — real records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rows from the cleaned datasets — the structured layer the Verifier filters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37744" cy="23774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572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Riyadh Places — POIs &amp; restaurants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1737360"/>
                <a:gridCol w="228600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Name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Category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Rating (n)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Coordinates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Chowking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Noodles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(305)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24.646, 46.717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islands delights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| Seafood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(239)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24.646, 46.717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Eben Ezar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| Japanese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(5)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24.647, 46.718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Shawarma Alaz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Food | Shawarma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 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24.645, 46.718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160520"/>
            <a:ext cx="237744" cy="23774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10565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Booking.com Hotels — price &amp; guest ratings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498848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1371600"/>
                <a:gridCol w="822960"/>
                <a:gridCol w="11887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Hotel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SAR/night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★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Guest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Free cancel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Points by Sheraton Al Naseem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Makkah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 Crown Furnished Apartments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Khamis Mushait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فندق راية الشلال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Abū Qa‘Ar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الريم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are 2020 snapshots (used as a static benchmark). Blank guest rating = unrated, kept as null — never coerced to 0.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evidence — reviews, events &amp; venues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+ English throughout — the semantic layer embeds this text for grounding.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2880360"/>
          </a:xfrm>
          <a:prstGeom prst="roundRect">
            <a:avLst>
              <a:gd name="adj" fmla="val 2540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— aspect sentiment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منتزه الخلب · Al Bahah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31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منتزه وحديقة البرج مكان جميل … المطعم اكله لذيذ ونظيف … وبعد الساعة تنحسب رسوم ٢٠ ريال … وجدناها متسخة مع الامطار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1325880" cy="384048"/>
          </a:xfrm>
          <a:prstGeom prst="roundRect">
            <a:avLst>
              <a:gd name="adj" fmla="val 47619"/>
            </a:avLst>
          </a:prstGeom>
          <a:solidFill>
            <a:srgbClr val="0E6E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661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 +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3566160"/>
            <a:ext cx="1709928" cy="384048"/>
          </a:xfrm>
          <a:prstGeom prst="roundRect">
            <a:avLst>
              <a:gd name="adj" fmla="val 47619"/>
            </a:avLst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23160" y="3566160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Cleanliness  −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566160"/>
            <a:ext cx="1133856" cy="384048"/>
          </a:xfrm>
          <a:prstGeom prst="roundRect">
            <a:avLst>
              <a:gd name="adj" fmla="val 47619"/>
            </a:avLst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566160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 +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aspects scored {−1, 0, +1}; null when not mentioned — a review can be positive overall yet flag cleanliness.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55080" y="1664208"/>
            <a:ext cx="219456" cy="21945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56832" y="16093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Enjoy.sa Events (live API)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11680"/>
          <a:ext cx="51663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Event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Date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Audience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WWE سماك داون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2024-05-24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Comeback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2026-07-25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Lenny Jay's This Is Michae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Jeddah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2026-08-21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6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355080" y="3977640"/>
            <a:ext cx="219456" cy="21945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56832" y="39227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 venues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325112"/>
          <a:ext cx="5166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17320"/>
                <a:gridCol w="1051560"/>
                <a:gridCol w="594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Venue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Genre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Rating (n)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City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Concert hall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(1,100)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Atheeb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vox cinemas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Movie 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(3,500)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المسرح الروماني | Roman 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Theater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 (151)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Uqayr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640080" y="5120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carry per-audience flags (male / female / family) — the source of the temporal &amp; audience constraint checks.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 — a real merge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 rows, identical coordinates → one canonical entity. Names alone never merge — coordinates corroborate.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7B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— 2 source records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3EE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places_04934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 cafe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15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 </a:t>
            </a:r>
            <a:pPr indent="0" marL="0">
              <a:buNone/>
            </a:pPr>
            <a:r>
              <a:rPr lang="en-US" sz="1100" b="1" dirty="0">
                <a:solidFill>
                  <a:srgbClr val="0E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24.888313, 46.618195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90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 </a:t>
            </a:r>
            <a:pPr indent="0" marL="0"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(unrated)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47472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3EE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places_04935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224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 </a:t>
            </a:r>
            <a:pPr indent="0" marL="0">
              <a:buNone/>
            </a:pPr>
            <a:r>
              <a:rPr lang="en-US" sz="1100" b="1" dirty="0">
                <a:solidFill>
                  <a:srgbClr val="0E6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24.888313, 46.618195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 </a:t>
            </a:r>
            <a:pPr indent="0" marL="0"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/ 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46888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6172200" y="1965960"/>
            <a:ext cx="5349240" cy="2880360"/>
          </a:xfrm>
          <a:prstGeom prst="roundRect">
            <a:avLst>
              <a:gd name="adj" fmla="val 2540"/>
            </a:avLst>
          </a:prstGeom>
          <a:solidFill>
            <a:srgbClr val="0E6E6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— 1 canonical entity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RYD_000154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ALkhozama cafe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/ region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Riyadh · Riyadh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4747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24.888313, 46.618195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8862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(places_04934 | places_04935)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297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IDs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on every member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21208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0B3B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rule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6509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only if coordinates corroborate: distance ≤ 20 m with name similarity ≥ 0.6, or ≤ 50 m with ≥ 0.85. No-coordinate name matches become review candidates, not automatic merges. Result: 10,382 → 10,027 entities (457 merges).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data to a retrievable knowledge base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39996" y="914400"/>
            <a:ext cx="3108960" cy="402336"/>
          </a:xfrm>
          <a:prstGeom prst="roundRect">
            <a:avLst>
              <a:gd name="adj" fmla="val 22727"/>
            </a:avLst>
          </a:prstGeom>
          <a:solidFill>
            <a:srgbClr val="0B3B3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39996" y="91440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DATA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20156" y="13350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534156" y="1517904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7" name="Shape 5"/>
          <p:cNvSpPr/>
          <p:nvPr/>
        </p:nvSpPr>
        <p:spPr>
          <a:xfrm>
            <a:off x="3680460" y="1581912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80460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19956" y="156362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Assessment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19956" y="179222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problems are here?"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20156" y="2048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534156" y="2176272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80460" y="2240280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804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219956" y="2221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19956" y="2450592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"Fix the problems."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820156" y="2706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534156" y="2834640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80460" y="2898648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8046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219956" y="28803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219956" y="3108960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all datasets use compatible structures."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20156" y="33649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3534156" y="3493008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F3EEE4"/>
          </a:solidFill>
          <a:ln/>
        </p:spPr>
      </p:sp>
      <p:sp>
        <p:nvSpPr>
          <p:cNvPr id="25" name="Shape 23"/>
          <p:cNvSpPr/>
          <p:nvPr/>
        </p:nvSpPr>
        <p:spPr>
          <a:xfrm>
            <a:off x="3680460" y="3557016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6804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219956" y="353872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219956" y="376732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records refer to the same real-world thing?"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820156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534156" y="4151376"/>
            <a:ext cx="5120640" cy="512064"/>
          </a:xfrm>
          <a:prstGeom prst="roundRect">
            <a:avLst>
              <a:gd name="adj" fmla="val 12500"/>
            </a:avLst>
          </a:prstGeom>
          <a:solidFill>
            <a:srgbClr val="0E6E63"/>
          </a:solidFill>
          <a:ln/>
        </p:spPr>
      </p:sp>
      <p:sp>
        <p:nvSpPr>
          <p:cNvPr id="31" name="Shape 29"/>
          <p:cNvSpPr/>
          <p:nvPr/>
        </p:nvSpPr>
        <p:spPr>
          <a:xfrm>
            <a:off x="3680460" y="4215384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68046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4219956" y="419709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219956" y="4425696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"Store it so the AI can retrieve it."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094476" y="4663440"/>
            <a:ext cx="0" cy="146304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94760" y="4809744"/>
            <a:ext cx="4572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94760" y="4809744"/>
            <a:ext cx="0" cy="18288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66760" y="4809744"/>
            <a:ext cx="0" cy="18288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11680" y="5029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E9F2F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267712" y="5157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2267712" y="54498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267712" y="5705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facts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2304288" y="59801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583680" y="5029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0E6E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839712" y="5157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6839712" y="54498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 Store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839712" y="57058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/ evidence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6876288" y="59801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text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 trail — one café through the pipeline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writes its own file; standardization splits into two shapes — one per half of the hybrid KB.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0" y="1417320"/>
            <a:ext cx="3566160" cy="749808"/>
          </a:xfrm>
          <a:prstGeom prst="roundRect">
            <a:avLst>
              <a:gd name="adj" fmla="val 7317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907792" y="1527048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raw/places.csv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907792" y="1819656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messy rows · rating=0 · "Riyadh, Saudi Arabia"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1945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43200" y="2487168"/>
            <a:ext cx="3566160" cy="749808"/>
          </a:xfrm>
          <a:prstGeom prst="roundRect">
            <a:avLst>
              <a:gd name="adj" fmla="val 7317"/>
            </a:avLst>
          </a:prstGeom>
          <a:solidFill>
            <a:srgbClr val="F3EE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07792" y="2596896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processed/places_clean.csv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907792" y="28895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0→null · city→Riyadh/Riyadh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6243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326440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 → splits into two shapes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3703320" cy="749808"/>
          </a:xfrm>
          <a:prstGeom prst="roundRect">
            <a:avLst>
              <a:gd name="adj" fmla="val 7317"/>
            </a:avLst>
          </a:prstGeom>
          <a:solidFill>
            <a:srgbClr val="E9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4023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entities_core.csv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4315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to FILTER · rating_norm 0.8 · city · price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913632"/>
            <a:ext cx="3703320" cy="749808"/>
          </a:xfrm>
          <a:prstGeom prst="roundRect">
            <a:avLst>
              <a:gd name="adj" fmla="val 7317"/>
            </a:avLst>
          </a:prstGeom>
          <a:solidFill>
            <a:srgbClr val="FBF4D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82312" y="4023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kb_documents.csv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82312" y="4315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to embed + embed flag · language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732520" y="141732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0B3B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0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layer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0" y="1883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knowledge_base.sqlite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filters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= Riyadh AND rating_norm ≥ 0.8 AND price ≤ 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732520" y="3703320"/>
            <a:ext cx="2880360" cy="2560320"/>
          </a:xfrm>
          <a:prstGeom prst="roundRect">
            <a:avLst>
              <a:gd name="adj" fmla="val 2857"/>
            </a:avLst>
          </a:prstGeom>
          <a:solidFill>
            <a:srgbClr val="0E6E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0" y="3858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layer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0" y="4169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vector_store/  (.npy + meta)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0" y="4498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search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“cozy, family-friendly vibe” → 768-dim vector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194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4805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8732520" y="5989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KB (regenerable, git-ignored)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" y="5029200"/>
            <a:ext cx="7680960" cy="1234440"/>
          </a:xfrm>
          <a:prstGeom prst="roundRect">
            <a:avLst>
              <a:gd name="adj" fmla="val 5185"/>
            </a:avLst>
          </a:prstGeom>
          <a:solidFill>
            <a:srgbClr val="F3EE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68680" y="5138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 (between the split and the KB) writes 4 relationship files: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" y="5440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canonical_entities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(master list)  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entity_crosswalk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(source→canonical join hub)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candidate_links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(near-matches, not merged)  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review_place_links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(review→place)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 — the data pipeline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raw → clean → standardize → resolve → hybrid KB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&amp;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notebooks + 11-point quality audit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Contract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schema, units, provenance (data_dictionary.md)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raw→clean→validate; rating 0 = unrated, not 0/5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Standardization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schema, rating_norm, bilingual documents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IDs (RYD_000123) via name+city+coords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1792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KB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exact filters + multilingual vector store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21,782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entity records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10,027</a:t>
            </a:r>
            <a:endParaRPr lang="en-US" sz="3000" dirty="0"/>
          </a:p>
        </p:txBody>
      </p:sp>
      <p:sp>
        <p:nvSpPr>
          <p:cNvPr id="37" name="Text 35"/>
          <p:cNvSpPr txBox="1"/>
          <p:nvPr/>
        </p:nvSpPr>
        <p:spPr>
          <a:xfrm>
            <a:off x="434340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entities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 match a sample query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 — the experiment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layer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structured + semantic behind one interface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94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Single-agent baseline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arm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system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/ Retrieval / Planning / Verifier + revise loop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840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test set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scenarios: simple, constraint-heavy, temporal, spatial, preference, conflicting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634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runs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~420 itineraries across both arms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53212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4864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&amp; statistics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+ human eval → paired comparison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6263640"/>
            <a:ext cx="1088136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hard constraints checked deterministically (structured layer); subjective quality via semantic retrieval + human eval.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2026-09-15T11:44:07Z</dcterms:created>
  <dcterms:modified xsi:type="dcterms:W3CDTF">2026-09-15T11:44:07Z</dcterms:modified>
</cp:coreProperties>
</file>