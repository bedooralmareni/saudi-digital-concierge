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goal is an experiment isolating the effect of architecture, not a commercial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Isolation ensures measured differences come from orchestration, not data or model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Saudi Digital Concierge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889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LLM Framework for Personalized, Constraint-Aware, and Evidence-Grounded Travel Planning in Saudi Arabia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41248" y="3977640"/>
            <a:ext cx="146304" cy="14630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225296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3977640"/>
            <a:ext cx="146304" cy="146304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447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hybrid knowledge base complete · experiment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&amp; Hypotheses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3EEE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417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multi-agent LLM architecture improve personalized, constraint-aware, and evidence-grounded travel planning in Saudi Arabia compared with an equivalent single-agent LLM — holding the model, knowledge base, and evaluation constant?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743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satisfies more explicit constraints (budget, dates, group, audience).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35844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unsupported claims — lower hallucination, higher evidence grounding (via the Verifier).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44256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raters judge multi-agent itineraries better personalized / higher quality.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312664"/>
            <a:ext cx="384048" cy="384048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526694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carry a measurable cost — more tokens, latency, and API calls (the trade-off).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vs. Treatment — what is controlled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= agent architecture. Everything else is held identical.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3EE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— Single Agent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does everything: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→ retrieve → plan → answer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single prompt. No verification loop.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0E6E6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— Multi-Agent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→ Retrieval → Planning → Verifier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6974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checks the plan and loops back to Planning until every constraint is satisfied.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 constant across both arms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1556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LLM &amp; generation settings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4340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0799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1888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hybrid knowledge base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47548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11312" y="49286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22208" y="47548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 scenarios &amp; prompts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1556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output schema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340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799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888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evaluation criteria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5440680"/>
            <a:ext cx="3520440" cy="54864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/>
        </p:spPr>
      </p:sp>
      <p:sp>
        <p:nvSpPr>
          <p:cNvPr id="29" name="Shape 27"/>
          <p:cNvSpPr/>
          <p:nvPr/>
        </p:nvSpPr>
        <p:spPr>
          <a:xfrm>
            <a:off x="8211312" y="5614416"/>
            <a:ext cx="201168" cy="20116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22208" y="5440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raters &amp; instructions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— defined operationally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577840" cy="4937760"/>
          </a:xfrm>
          <a:prstGeom prst="roundRect">
            <a:avLst>
              <a:gd name="adj" fmla="val 1296"/>
            </a:avLst>
          </a:prstGeom>
          <a:solidFill>
            <a:srgbClr val="E9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36192"/>
            <a:ext cx="256032" cy="256032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07008" y="14630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— deterministic (no LLM judge)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4884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Satisfaction = met ÷ requested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Adherence = Σcost ≤ budget (+ overspend %)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Validity = events within trip window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Feasibility = consecutive stops within distance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Capacity/Audience = max_persons ≥ group; flags match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Grounding = items → canonical_id + source_url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= items NOT supported by the KB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BF4DD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536192"/>
            <a:ext cx="256032" cy="25603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6772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— human eval (1–5)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Itinerary quality &amp; coherence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usefulness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26880" y="1325880"/>
            <a:ext cx="2743200" cy="4937760"/>
          </a:xfrm>
          <a:prstGeom prst="roundRect">
            <a:avLst>
              <a:gd name="adj" fmla="val 2333"/>
            </a:avLst>
          </a:prstGeom>
          <a:solidFill>
            <a:srgbClr val="F3E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5480" y="1536192"/>
            <a:ext cx="256032" cy="256032"/>
          </a:xfrm>
          <a:prstGeom prst="ellipse">
            <a:avLst/>
          </a:prstGeom>
          <a:solidFill>
            <a:srgbClr val="0B3B3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93808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Efficiency — system cost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148840"/>
            <a:ext cx="2194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(s)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 (prompt + completion)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LLM calls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 / itinerary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run N times per arm (≈70 × 3 × 2 ≈ 420 itineraries) → paired tests + effect sizes.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Sources &amp; Scope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curated, bilingual (Arabic + English) sources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Source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Rows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E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 Reviews — Zenodo (CC0)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reviews + aspect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Riyadh Places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/ restaurants,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Tourism 2015–24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spending, overnight stays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DataSaudi Indicators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Official stats (purpose, NPS, satisfaction)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~1,915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Enjoy.sa Events API —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Events: dates, city, audience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Booking.com Hotels — Kaggle (2020)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Hotels: price, ratings, coordinates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Entertainment — Kaggle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7B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Venues, ratings, categories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A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54480"/>
            <a:ext cx="3886200" cy="4754880"/>
          </a:xfrm>
          <a:prstGeom prst="roundRect">
            <a:avLst>
              <a:gd name="adj" fmla="val 1647"/>
            </a:avLst>
          </a:prstGeom>
          <a:solidFill>
            <a:srgbClr val="0B3B3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Exclusions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2194560"/>
            <a:ext cx="3337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source dropped → Booking.com added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Coordinates: strongest in Riyadh; thinner elsewhere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Enjoy.sa is live; others are snapshots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prices are 2020 → shown as historical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DataSaudi curated to ~5 tables (dropped duplicates)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Non-Saudi &amp; corrupted rows excluded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8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transport / booking transactions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 — the data pipeline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raw → clean → standardize → resolve → hybrid KB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&amp;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notebooks + 11-point quality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7510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1975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Contract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194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schema, units, provenance (data_dictionary.md)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raw→clean→validate; rating 0 = unrated, not 0/5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288036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320954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3209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Standardization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schema, rating_norm, bilingual documents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Resolution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IDs (RYD_000123) via name+city+coords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17920" y="4114800"/>
            <a:ext cx="5349240" cy="1097280"/>
          </a:xfrm>
          <a:prstGeom prst="roundRect">
            <a:avLst>
              <a:gd name="adj" fmla="val 5833"/>
            </a:avLst>
          </a:prstGeom>
          <a:solidFill>
            <a:srgbClr val="1251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443984"/>
            <a:ext cx="438912" cy="43891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44439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04088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KB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6634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exact filters + multilingual vector store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21,782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entity records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10,027</a:t>
            </a:r>
            <a:endParaRPr lang="en-US" sz="3000" dirty="0"/>
          </a:p>
        </p:txBody>
      </p:sp>
      <p:sp>
        <p:nvSpPr>
          <p:cNvPr id="37" name="Text 35"/>
          <p:cNvSpPr txBox="1"/>
          <p:nvPr/>
        </p:nvSpPr>
        <p:spPr>
          <a:xfrm>
            <a:off x="434340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entities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046720" y="5806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63550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match a sample query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 — the experiment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71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layer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structured + semantic behind one interface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Single-agent baseline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arm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system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/ Retrieval / Planning / Verifier + revise loop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840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test set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scenarios: simple, constraint-heavy, temporal, spatial, preference, conflicting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63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runs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~420 itineraries across both arms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532120"/>
            <a:ext cx="457200" cy="457200"/>
          </a:xfrm>
          <a:prstGeom prst="ellipse">
            <a:avLst/>
          </a:prstGeom>
          <a:solidFill>
            <a:srgbClr val="0E6E6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&amp; statistics   </a:t>
            </a:r>
            <a:pPr indent="0" marL="0">
              <a:buNone/>
            </a:pPr>
            <a:r>
              <a:rPr lang="en-US" sz="1500" dirty="0">
                <a:solidFill>
                  <a:srgbClr val="1F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+ human eval → paired comparison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6263640"/>
            <a:ext cx="1088136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hard constraints checked deterministically (structured layer); subjective quality via semantic retrieval + human eval.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2026-09-14T08:51:56Z</dcterms:created>
  <dcterms:modified xsi:type="dcterms:W3CDTF">2026-09-14T08:51:56Z</dcterms:modified>
</cp:coreProperties>
</file>